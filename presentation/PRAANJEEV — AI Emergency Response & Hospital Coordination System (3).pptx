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4F4F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0E5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4F4F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0E5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4F4F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4F4F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12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482600"/>
            <a:ext cx="108934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4F4F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7662" y="2863850"/>
            <a:ext cx="6511925" cy="1574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0E5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2809874"/>
              <a:ext cx="38100" cy="914400"/>
            </a:xfrm>
            <a:custGeom>
              <a:avLst/>
              <a:gdLst/>
              <a:ahLst/>
              <a:cxnLst/>
              <a:rect l="l" t="t" r="r" b="b"/>
              <a:pathLst>
                <a:path w="38100" h="914400">
                  <a:moveTo>
                    <a:pt x="381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38100" y="9144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B2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44500" y="450815"/>
            <a:ext cx="45478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65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B</a:t>
            </a:r>
            <a:r>
              <a:rPr dirty="0" sz="1000" spc="-1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M</a:t>
            </a:r>
            <a:r>
              <a:rPr dirty="0" sz="1000" spc="29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B</a:t>
            </a:r>
            <a:r>
              <a:rPr dirty="0" sz="1000" spc="-1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000" spc="-8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B</a:t>
            </a:r>
            <a:r>
              <a:rPr dirty="0" sz="1000" spc="3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000" spc="4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65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 N</a:t>
            </a:r>
            <a:r>
              <a:rPr dirty="0" sz="1000" spc="-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000" spc="-4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000" spc="-8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VAT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65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000" spc="-8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000" spc="4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H</a:t>
            </a:r>
            <a:r>
              <a:rPr dirty="0" sz="1000" spc="-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50">
                <a:solidFill>
                  <a:srgbClr val="9FA9BE"/>
                </a:solidFill>
                <a:latin typeface="Times New Roman"/>
                <a:cs typeface="Times New Roman"/>
              </a:rPr>
              <a:t>C</a:t>
            </a:r>
            <a:r>
              <a:rPr dirty="0" sz="1000" spc="-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9FA9BE"/>
                </a:solidFill>
                <a:latin typeface="Times New Roman"/>
                <a:cs typeface="Times New Roman"/>
              </a:rPr>
              <a:t>K</a:t>
            </a:r>
            <a:r>
              <a:rPr dirty="0" sz="1000" spc="-1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AT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H</a:t>
            </a:r>
            <a:r>
              <a:rPr dirty="0" sz="1000" spc="-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000" spc="-8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000" spc="4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10">
                <a:solidFill>
                  <a:srgbClr val="9FA9BE"/>
                </a:solidFill>
                <a:latin typeface="Times New Roman"/>
                <a:cs typeface="Times New Roman"/>
              </a:rPr>
              <a:t>2</a:t>
            </a:r>
            <a:r>
              <a:rPr dirty="0" sz="1000" spc="-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50">
                <a:solidFill>
                  <a:srgbClr val="9FA9BE"/>
                </a:solidFill>
                <a:latin typeface="Times New Roman"/>
                <a:cs typeface="Times New Roman"/>
              </a:rPr>
              <a:t>0</a:t>
            </a:r>
            <a:r>
              <a:rPr dirty="0" sz="1000" spc="-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10">
                <a:solidFill>
                  <a:srgbClr val="9FA9BE"/>
                </a:solidFill>
                <a:latin typeface="Times New Roman"/>
                <a:cs typeface="Times New Roman"/>
              </a:rPr>
              <a:t>2</a:t>
            </a:r>
            <a:r>
              <a:rPr dirty="0" sz="1000" spc="-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9FA9BE"/>
                </a:solidFill>
                <a:latin typeface="Times New Roman"/>
                <a:cs typeface="Times New Roman"/>
              </a:rPr>
              <a:t>6</a:t>
            </a:r>
            <a:r>
              <a:rPr dirty="0" sz="1000" spc="3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|</a:t>
            </a:r>
            <a:r>
              <a:rPr dirty="0" sz="1000" spc="48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000" spc="43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9FA9BE"/>
                </a:solidFill>
                <a:latin typeface="Times New Roman"/>
                <a:cs typeface="Times New Roman"/>
              </a:rPr>
              <a:t>T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000" spc="-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000" spc="-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50">
                <a:solidFill>
                  <a:srgbClr val="9FA9BE"/>
                </a:solidFill>
                <a:latin typeface="Times New Roman"/>
                <a:cs typeface="Times New Roman"/>
              </a:rPr>
              <a:t>C</a:t>
            </a:r>
            <a:r>
              <a:rPr dirty="0" sz="1000" spc="-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9FA9BE"/>
                </a:solidFill>
                <a:latin typeface="Times New Roman"/>
                <a:cs typeface="Times New Roman"/>
              </a:rPr>
              <a:t>K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44500" y="568325"/>
            <a:ext cx="504634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45"/>
              <a:t>PRAANJEEV</a:t>
            </a:r>
            <a:endParaRPr sz="7200"/>
          </a:p>
        </p:txBody>
      </p:sp>
      <p:sp>
        <p:nvSpPr>
          <p:cNvPr id="8" name="object 8"/>
          <p:cNvSpPr txBox="1"/>
          <p:nvPr/>
        </p:nvSpPr>
        <p:spPr>
          <a:xfrm>
            <a:off x="444500" y="1752799"/>
            <a:ext cx="5923280" cy="196913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00E5FF"/>
                </a:solidFill>
                <a:latin typeface="Times New Roman"/>
                <a:cs typeface="Times New Roman"/>
              </a:rPr>
              <a:t>AI</a:t>
            </a:r>
            <a:r>
              <a:rPr dirty="0" sz="2000" spc="27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00E5FF"/>
                </a:solidFill>
                <a:latin typeface="Times New Roman"/>
                <a:cs typeface="Times New Roman"/>
              </a:rPr>
              <a:t>EMERGENCY</a:t>
            </a:r>
            <a:r>
              <a:rPr dirty="0" sz="2000" spc="13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150">
                <a:solidFill>
                  <a:srgbClr val="00E5FF"/>
                </a:solidFill>
                <a:latin typeface="Times New Roman"/>
                <a:cs typeface="Times New Roman"/>
              </a:rPr>
              <a:t>RESPONSE</a:t>
            </a:r>
            <a:r>
              <a:rPr dirty="0" sz="2000" spc="24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E5FF"/>
                </a:solidFill>
                <a:latin typeface="Times New Roman"/>
                <a:cs typeface="Times New Roman"/>
              </a:rPr>
              <a:t>&amp;</a:t>
            </a:r>
            <a:r>
              <a:rPr dirty="0" sz="2000" spc="6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00E5FF"/>
                </a:solidFill>
                <a:latin typeface="Times New Roman"/>
                <a:cs typeface="Times New Roman"/>
              </a:rPr>
              <a:t>H</a:t>
            </a:r>
            <a:r>
              <a:rPr dirty="0" sz="2000" spc="-32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00E5FF"/>
                </a:solidFill>
                <a:latin typeface="Times New Roman"/>
                <a:cs typeface="Times New Roman"/>
              </a:rPr>
              <a:t>OSPI</a:t>
            </a:r>
            <a:r>
              <a:rPr dirty="0" sz="2000" spc="-26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00E5FF"/>
                </a:solidFill>
                <a:latin typeface="Times New Roman"/>
                <a:cs typeface="Times New Roman"/>
              </a:rPr>
              <a:t>TAL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0" spc="50">
                <a:solidFill>
                  <a:srgbClr val="00E5FF"/>
                </a:solidFill>
                <a:latin typeface="Times New Roman"/>
                <a:cs typeface="Times New Roman"/>
              </a:rPr>
              <a:t>COORDI</a:t>
            </a:r>
            <a:r>
              <a:rPr dirty="0" sz="2000" spc="-26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-40">
                <a:solidFill>
                  <a:srgbClr val="00E5FF"/>
                </a:solidFill>
                <a:latin typeface="Times New Roman"/>
                <a:cs typeface="Times New Roman"/>
              </a:rPr>
              <a:t>NATI</a:t>
            </a:r>
            <a:r>
              <a:rPr dirty="0" sz="2000" spc="-26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70">
                <a:solidFill>
                  <a:srgbClr val="00E5FF"/>
                </a:solidFill>
                <a:latin typeface="Times New Roman"/>
                <a:cs typeface="Times New Roman"/>
              </a:rPr>
              <a:t>ON</a:t>
            </a:r>
            <a:r>
              <a:rPr dirty="0" sz="2000" spc="33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000" spc="135">
                <a:solidFill>
                  <a:srgbClr val="00E5FF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">
              <a:latin typeface="Times New Roman"/>
              <a:cs typeface="Times New Roman"/>
            </a:endParaRPr>
          </a:p>
          <a:p>
            <a:pPr marL="279400" marR="5080">
              <a:lnSpc>
                <a:spcPct val="109100"/>
              </a:lnSpc>
            </a:pPr>
            <a:r>
              <a:rPr dirty="0" sz="2750" spc="100" b="1" i="1">
                <a:solidFill>
                  <a:srgbClr val="FFB200"/>
                </a:solidFill>
                <a:latin typeface="Cambria"/>
                <a:cs typeface="Cambria"/>
              </a:rPr>
              <a:t>“In</a:t>
            </a:r>
            <a:r>
              <a:rPr dirty="0" sz="2750" spc="-55" b="1" i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750" b="1" i="1">
                <a:solidFill>
                  <a:srgbClr val="FFB200"/>
                </a:solidFill>
                <a:latin typeface="Cambria"/>
                <a:cs typeface="Cambria"/>
              </a:rPr>
              <a:t>the</a:t>
            </a:r>
            <a:r>
              <a:rPr dirty="0" sz="2750" spc="-55" b="1" i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750" b="1" i="1">
                <a:solidFill>
                  <a:srgbClr val="FFB200"/>
                </a:solidFill>
                <a:latin typeface="Cambria"/>
                <a:cs typeface="Cambria"/>
              </a:rPr>
              <a:t>race</a:t>
            </a:r>
            <a:r>
              <a:rPr dirty="0" sz="2750" spc="-60" b="1" i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750" spc="-30" b="1" i="1">
                <a:solidFill>
                  <a:srgbClr val="FFB200"/>
                </a:solidFill>
                <a:latin typeface="Cambria"/>
                <a:cs typeface="Cambria"/>
              </a:rPr>
              <a:t>against</a:t>
            </a:r>
            <a:r>
              <a:rPr dirty="0" sz="2750" spc="-25" b="1" i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750" b="1" i="1">
                <a:solidFill>
                  <a:srgbClr val="FFB200"/>
                </a:solidFill>
                <a:latin typeface="Cambria"/>
                <a:cs typeface="Cambria"/>
              </a:rPr>
              <a:t>time,</a:t>
            </a:r>
            <a:r>
              <a:rPr dirty="0" sz="2750" spc="-95" b="1" i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750" b="1" i="1">
                <a:solidFill>
                  <a:srgbClr val="FFB200"/>
                </a:solidFill>
                <a:latin typeface="Cambria"/>
                <a:cs typeface="Cambria"/>
              </a:rPr>
              <a:t>we</a:t>
            </a:r>
            <a:r>
              <a:rPr dirty="0" sz="2750" spc="-60" b="1" i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750" spc="-10" b="1" i="1">
                <a:solidFill>
                  <a:srgbClr val="FFB200"/>
                </a:solidFill>
                <a:latin typeface="Cambria"/>
                <a:cs typeface="Cambria"/>
              </a:rPr>
              <a:t>choose life.”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198" y="6167685"/>
            <a:ext cx="11306810" cy="24447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293475" algn="l"/>
              </a:tabLst>
            </a:pPr>
            <a:r>
              <a:rPr dirty="0" u="heavy" sz="100" spc="-25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Tirth</a:t>
            </a:r>
            <a:r>
              <a:rPr dirty="0" u="heavy" sz="1150" spc="95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7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Patel</a:t>
            </a:r>
            <a:r>
              <a:rPr dirty="0" u="heavy" sz="1150" spc="185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|</a:t>
            </a:r>
            <a:r>
              <a:rPr dirty="0" u="heavy" sz="1400" spc="16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8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Neev</a:t>
            </a:r>
            <a:r>
              <a:rPr dirty="0" u="heavy" sz="1150" spc="6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7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Patel</a:t>
            </a:r>
            <a:r>
              <a:rPr dirty="0" u="heavy" sz="1150" spc="19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|</a:t>
            </a:r>
            <a:r>
              <a:rPr dirty="0" u="heavy" sz="1400" spc="155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9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Tanmay</a:t>
            </a:r>
            <a:r>
              <a:rPr dirty="0" u="heavy" sz="1150" spc="6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7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Patel</a:t>
            </a:r>
            <a:r>
              <a:rPr dirty="0" u="heavy" sz="1150" spc="19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|</a:t>
            </a:r>
            <a:r>
              <a:rPr dirty="0" u="heavy" sz="1400" spc="155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9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Kashyap</a:t>
            </a:r>
            <a:r>
              <a:rPr dirty="0" u="heavy" sz="1150" spc="114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50" spc="55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Modi</a:t>
            </a:r>
            <a:r>
              <a:rPr dirty="0" u="heavy" sz="1150">
                <a:solidFill>
                  <a:srgbClr val="F4F4F6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046480"/>
            <a:ext cx="3091815" cy="14541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00"/>
              </a:spcBef>
            </a:pPr>
            <a:r>
              <a:rPr dirty="0" sz="4200"/>
              <a:t>Imagine</a:t>
            </a:r>
            <a:r>
              <a:rPr dirty="0" sz="4200" spc="40"/>
              <a:t> </a:t>
            </a:r>
            <a:r>
              <a:rPr dirty="0" sz="4200" spc="-20"/>
              <a:t>this </a:t>
            </a:r>
            <a:r>
              <a:rPr dirty="0" sz="4200" spc="-10"/>
              <a:t>moment.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444500" y="2746411"/>
            <a:ext cx="5197475" cy="2423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7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50">
                <a:solidFill>
                  <a:srgbClr val="9FA9BE"/>
                </a:solidFill>
                <a:latin typeface="Times New Roman"/>
                <a:cs typeface="Times New Roman"/>
              </a:rPr>
              <a:t>loved</a:t>
            </a:r>
            <a:r>
              <a:rPr dirty="0" sz="1750" spc="17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220">
                <a:solidFill>
                  <a:srgbClr val="9FA9BE"/>
                </a:solidFill>
                <a:latin typeface="Times New Roman"/>
                <a:cs typeface="Times New Roman"/>
              </a:rPr>
              <a:t>one</a:t>
            </a:r>
            <a:r>
              <a:rPr dirty="0" sz="1750" spc="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90">
                <a:solidFill>
                  <a:srgbClr val="9FA9BE"/>
                </a:solidFill>
                <a:latin typeface="Times New Roman"/>
                <a:cs typeface="Times New Roman"/>
              </a:rPr>
              <a:t>suddenly</a:t>
            </a:r>
            <a:r>
              <a:rPr dirty="0" sz="1750" spc="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265">
                <a:solidFill>
                  <a:srgbClr val="9FA9BE"/>
                </a:solidFill>
                <a:latin typeface="Times New Roman"/>
                <a:cs typeface="Times New Roman"/>
              </a:rPr>
              <a:t>becomes</a:t>
            </a:r>
            <a:r>
              <a:rPr dirty="0" sz="1750" spc="1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30">
                <a:solidFill>
                  <a:srgbClr val="9FA9BE"/>
                </a:solidFill>
                <a:latin typeface="Times New Roman"/>
                <a:cs typeface="Times New Roman"/>
              </a:rPr>
              <a:t>critically</a:t>
            </a:r>
            <a:r>
              <a:rPr dirty="0" sz="1750" spc="1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7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750" spc="110">
                <a:solidFill>
                  <a:srgbClr val="9FA9BE"/>
                </a:solidFill>
                <a:latin typeface="Times New Roman"/>
                <a:cs typeface="Times New Roman"/>
              </a:rPr>
              <a:t>ll</a:t>
            </a:r>
            <a:r>
              <a:rPr dirty="0" sz="250" spc="-25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r>
              <a:rPr dirty="0" sz="250" spc="270">
                <a:solidFill>
                  <a:srgbClr val="9FA9BE"/>
                </a:solidFill>
                <a:latin typeface="Times New Roman"/>
                <a:cs typeface="Times New Roman"/>
              </a:rPr>
              <a:t>  </a:t>
            </a:r>
            <a:r>
              <a:rPr dirty="0" sz="1750" spc="-25">
                <a:solidFill>
                  <a:srgbClr val="9FA9BE"/>
                </a:solidFill>
                <a:latin typeface="Times New Roman"/>
                <a:cs typeface="Times New Roman"/>
              </a:rPr>
              <a:t>Th</a:t>
            </a:r>
            <a:r>
              <a:rPr dirty="0" sz="1750" spc="-25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125">
                <a:solidFill>
                  <a:srgbClr val="9FA9BE"/>
                </a:solidFill>
                <a:latin typeface="Times New Roman"/>
                <a:cs typeface="Times New Roman"/>
              </a:rPr>
              <a:t>family</a:t>
            </a:r>
            <a:r>
              <a:rPr dirty="0" sz="1750" spc="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250">
                <a:solidFill>
                  <a:srgbClr val="9FA9BE"/>
                </a:solidFill>
                <a:latin typeface="Times New Roman"/>
                <a:cs typeface="Times New Roman"/>
              </a:rPr>
              <a:t>needs</a:t>
            </a:r>
            <a:r>
              <a:rPr dirty="0" sz="1750" spc="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75">
                <a:solidFill>
                  <a:srgbClr val="9FA9BE"/>
                </a:solidFill>
                <a:latin typeface="Times New Roman"/>
                <a:cs typeface="Times New Roman"/>
              </a:rPr>
              <a:t>help</a:t>
            </a:r>
            <a:r>
              <a:rPr dirty="0" sz="17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254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750" spc="165">
                <a:solidFill>
                  <a:srgbClr val="9FA9BE"/>
                </a:solidFill>
                <a:latin typeface="Times New Roman"/>
                <a:cs typeface="Times New Roman"/>
              </a:rPr>
              <a:t>mm</a:t>
            </a:r>
            <a:r>
              <a:rPr dirty="0" sz="1750" spc="16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50" spc="229">
                <a:solidFill>
                  <a:srgbClr val="9FA9BE"/>
                </a:solidFill>
                <a:latin typeface="Times New Roman"/>
                <a:cs typeface="Times New Roman"/>
              </a:rPr>
              <a:t>d</a:t>
            </a:r>
            <a:r>
              <a:rPr dirty="0" sz="1750" spc="254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750" spc="18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750" spc="150">
                <a:solidFill>
                  <a:srgbClr val="9FA9BE"/>
                </a:solidFill>
                <a:latin typeface="Times New Roman"/>
                <a:cs typeface="Times New Roman"/>
              </a:rPr>
              <a:t>t</a:t>
            </a:r>
            <a:r>
              <a:rPr dirty="0" sz="1750" spc="16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50" spc="295">
                <a:solidFill>
                  <a:srgbClr val="9FA9BE"/>
                </a:solidFill>
                <a:latin typeface="Times New Roman"/>
                <a:cs typeface="Times New Roman"/>
              </a:rPr>
              <a:t>l</a:t>
            </a:r>
            <a:r>
              <a:rPr dirty="0" sz="1750" spc="25">
                <a:solidFill>
                  <a:srgbClr val="9FA9BE"/>
                </a:solidFill>
                <a:latin typeface="Times New Roman"/>
                <a:cs typeface="Times New Roman"/>
              </a:rPr>
              <a:t>y</a:t>
            </a:r>
            <a:r>
              <a:rPr dirty="0" sz="250" spc="16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r>
              <a:rPr dirty="0" sz="250" spc="260">
                <a:solidFill>
                  <a:srgbClr val="9FA9BE"/>
                </a:solidFill>
                <a:latin typeface="Times New Roman"/>
                <a:cs typeface="Times New Roman"/>
              </a:rPr>
              <a:t>  </a:t>
            </a:r>
            <a:r>
              <a:rPr dirty="0" sz="1750" spc="225">
                <a:solidFill>
                  <a:srgbClr val="9FA9BE"/>
                </a:solidFill>
                <a:latin typeface="Times New Roman"/>
                <a:cs typeface="Times New Roman"/>
              </a:rPr>
              <a:t>The</a:t>
            </a:r>
            <a:r>
              <a:rPr dirty="0" sz="1750" spc="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60">
                <a:solidFill>
                  <a:srgbClr val="9FA9BE"/>
                </a:solidFill>
                <a:latin typeface="Times New Roman"/>
                <a:cs typeface="Times New Roman"/>
              </a:rPr>
              <a:t>ambulance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90">
                <a:solidFill>
                  <a:srgbClr val="9FA9BE"/>
                </a:solidFill>
                <a:latin typeface="Times New Roman"/>
                <a:cs typeface="Times New Roman"/>
              </a:rPr>
              <a:t>is</a:t>
            </a:r>
            <a:r>
              <a:rPr dirty="0" sz="1750" spc="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45">
                <a:solidFill>
                  <a:srgbClr val="9FA9BE"/>
                </a:solidFill>
                <a:latin typeface="Times New Roman"/>
                <a:cs typeface="Times New Roman"/>
              </a:rPr>
              <a:t>on</a:t>
            </a:r>
            <a:r>
              <a:rPr dirty="0" sz="1750" spc="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225">
                <a:solidFill>
                  <a:srgbClr val="9FA9BE"/>
                </a:solidFill>
                <a:latin typeface="Times New Roman"/>
                <a:cs typeface="Times New Roman"/>
              </a:rPr>
              <a:t>the</a:t>
            </a:r>
            <a:r>
              <a:rPr dirty="0" sz="1750" spc="9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50" spc="160">
                <a:solidFill>
                  <a:srgbClr val="9FA9BE"/>
                </a:solidFill>
                <a:latin typeface="Times New Roman"/>
                <a:cs typeface="Times New Roman"/>
              </a:rPr>
              <a:t>w</a:t>
            </a:r>
            <a:r>
              <a:rPr dirty="0" sz="1750" spc="225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750" spc="70">
                <a:solidFill>
                  <a:srgbClr val="9FA9BE"/>
                </a:solidFill>
                <a:latin typeface="Times New Roman"/>
                <a:cs typeface="Times New Roman"/>
              </a:rPr>
              <a:t>y</a:t>
            </a:r>
            <a:r>
              <a:rPr dirty="0" sz="250" spc="204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 marR="459105">
              <a:lnSpc>
                <a:spcPct val="109400"/>
              </a:lnSpc>
              <a:spcBef>
                <a:spcPts val="5"/>
              </a:spcBef>
            </a:pPr>
            <a:r>
              <a:rPr dirty="0" sz="2400" b="1">
                <a:solidFill>
                  <a:srgbClr val="FFB200"/>
                </a:solidFill>
                <a:latin typeface="Cambria"/>
                <a:cs typeface="Cambria"/>
              </a:rPr>
              <a:t>“Which</a:t>
            </a:r>
            <a:r>
              <a:rPr dirty="0" sz="2400" spc="-45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FFB200"/>
                </a:solidFill>
                <a:latin typeface="Cambria"/>
                <a:cs typeface="Cambria"/>
              </a:rPr>
              <a:t>hospital can</a:t>
            </a:r>
            <a:r>
              <a:rPr dirty="0" sz="2400" spc="20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FFB200"/>
                </a:solidFill>
                <a:latin typeface="Cambria"/>
                <a:cs typeface="Cambria"/>
              </a:rPr>
              <a:t>actually</a:t>
            </a:r>
            <a:r>
              <a:rPr dirty="0" sz="2400" spc="-50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FFB200"/>
                </a:solidFill>
                <a:latin typeface="Cambria"/>
                <a:cs typeface="Cambria"/>
              </a:rPr>
              <a:t>treat them</a:t>
            </a:r>
            <a:r>
              <a:rPr dirty="0" sz="2400" spc="-45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FFB200"/>
                </a:solidFill>
                <a:latin typeface="Cambria"/>
                <a:cs typeface="Cambria"/>
              </a:rPr>
              <a:t>right</a:t>
            </a:r>
            <a:r>
              <a:rPr dirty="0" sz="2400" spc="-60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FFB200"/>
                </a:solidFill>
                <a:latin typeface="Cambria"/>
                <a:cs typeface="Cambria"/>
              </a:rPr>
              <a:t>now?”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5530082"/>
            <a:ext cx="187134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235">
                <a:solidFill>
                  <a:srgbClr val="FF5151"/>
                </a:solidFill>
                <a:latin typeface="MS PGothic"/>
                <a:cs typeface="MS PGothic"/>
              </a:rPr>
              <a:t>✕</a:t>
            </a:r>
            <a:r>
              <a:rPr dirty="0" sz="950" spc="204">
                <a:solidFill>
                  <a:srgbClr val="FF5151"/>
                </a:solidFill>
                <a:latin typeface="MS PGothic"/>
                <a:cs typeface="MS PGothic"/>
              </a:rPr>
              <a:t>  </a:t>
            </a:r>
            <a:r>
              <a:rPr dirty="0" sz="1400" spc="180">
                <a:solidFill>
                  <a:srgbClr val="F4F4F6"/>
                </a:solidFill>
                <a:latin typeface="Times New Roman"/>
                <a:cs typeface="Times New Roman"/>
              </a:rPr>
              <a:t>Nearest</a:t>
            </a:r>
            <a:r>
              <a:rPr dirty="0" sz="1400" spc="105">
                <a:solidFill>
                  <a:srgbClr val="F4F4F6"/>
                </a:solidFill>
                <a:latin typeface="Times New Roman"/>
                <a:cs typeface="Times New Roman"/>
              </a:rPr>
              <a:t> Hospital</a:t>
            </a:r>
            <a:r>
              <a:rPr dirty="0" sz="1400" spc="-20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F4F4F6"/>
                </a:solidFill>
                <a:latin typeface="Times New Roman"/>
                <a:cs typeface="Times New Roman"/>
              </a:rPr>
              <a:t>?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350" y="5485606"/>
            <a:ext cx="170942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295">
                <a:solidFill>
                  <a:srgbClr val="FFB200"/>
                </a:solidFill>
                <a:latin typeface="MS PGothic"/>
                <a:cs typeface="MS PGothic"/>
              </a:rPr>
              <a:t>❤</a:t>
            </a:r>
            <a:r>
              <a:rPr dirty="0" sz="1750" spc="180">
                <a:solidFill>
                  <a:srgbClr val="FFB200"/>
                </a:solidFill>
                <a:latin typeface="MS PGothic"/>
                <a:cs typeface="MS PGothic"/>
              </a:rPr>
              <a:t> </a:t>
            </a:r>
            <a:r>
              <a:rPr dirty="0" sz="1400" spc="110">
                <a:solidFill>
                  <a:srgbClr val="F4F4F6"/>
                </a:solidFill>
                <a:latin typeface="Times New Roman"/>
                <a:cs typeface="Times New Roman"/>
              </a:rPr>
              <a:t>Right</a:t>
            </a:r>
            <a:r>
              <a:rPr dirty="0" sz="1400" spc="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00" spc="105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400" spc="-2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F4F4F6"/>
                </a:solidFill>
                <a:latin typeface="Times New Roman"/>
                <a:cs typeface="Times New Roman"/>
              </a:rPr>
              <a:t>?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381750"/>
            <a:ext cx="5181600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0"/>
              <a:ext cx="6095999" cy="6857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Every</a:t>
            </a:r>
            <a:r>
              <a:rPr dirty="0" spc="-150"/>
              <a:t> </a:t>
            </a:r>
            <a:r>
              <a:rPr dirty="0"/>
              <a:t>second</a:t>
            </a:r>
            <a:r>
              <a:rPr dirty="0" spc="-70"/>
              <a:t> </a:t>
            </a:r>
            <a:r>
              <a:rPr dirty="0" spc="-10"/>
              <a:t>matters.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511814"/>
            <a:ext cx="6287135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225">
                <a:solidFill>
                  <a:srgbClr val="00E5FF"/>
                </a:solidFill>
                <a:latin typeface="Times New Roman"/>
                <a:cs typeface="Times New Roman"/>
              </a:rPr>
              <a:t>I</a:t>
            </a:r>
            <a:r>
              <a:rPr dirty="0" sz="1700" spc="-16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N</a:t>
            </a:r>
            <a:r>
              <a:rPr dirty="0" sz="1700" spc="-22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F</a:t>
            </a:r>
            <a:r>
              <a:rPr dirty="0" sz="1700" spc="-24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20">
                <a:solidFill>
                  <a:srgbClr val="00E5FF"/>
                </a:solidFill>
                <a:latin typeface="Times New Roman"/>
                <a:cs typeface="Times New Roman"/>
              </a:rPr>
              <a:t>ORM</a:t>
            </a:r>
            <a:r>
              <a:rPr dirty="0" sz="1700" spc="-21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ATI</a:t>
            </a:r>
            <a:r>
              <a:rPr dirty="0" sz="1700" spc="-16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14">
                <a:solidFill>
                  <a:srgbClr val="00E5FF"/>
                </a:solidFill>
                <a:latin typeface="Times New Roman"/>
                <a:cs typeface="Times New Roman"/>
              </a:rPr>
              <a:t>ON</a:t>
            </a:r>
            <a:r>
              <a:rPr dirty="0" sz="1700" spc="48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EXI</a:t>
            </a:r>
            <a:r>
              <a:rPr dirty="0" sz="1700" spc="-15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254">
                <a:solidFill>
                  <a:srgbClr val="00E5FF"/>
                </a:solidFill>
                <a:latin typeface="Times New Roman"/>
                <a:cs typeface="Times New Roman"/>
              </a:rPr>
              <a:t>STS</a:t>
            </a:r>
            <a:r>
              <a:rPr dirty="0" sz="1700" spc="409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650" spc="1325">
                <a:solidFill>
                  <a:srgbClr val="00E5FF"/>
                </a:solidFill>
                <a:latin typeface="Times New Roman"/>
                <a:cs typeface="Times New Roman"/>
              </a:rPr>
              <a:t>—</a:t>
            </a:r>
            <a:r>
              <a:rPr dirty="0" sz="650" spc="50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B</a:t>
            </a:r>
            <a:r>
              <a:rPr dirty="0" sz="1700" spc="-23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U</a:t>
            </a:r>
            <a:r>
              <a:rPr dirty="0" sz="1700" spc="-20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85">
                <a:solidFill>
                  <a:srgbClr val="00E5FF"/>
                </a:solidFill>
                <a:latin typeface="Times New Roman"/>
                <a:cs typeface="Times New Roman"/>
              </a:rPr>
              <a:t>T</a:t>
            </a:r>
            <a:r>
              <a:rPr dirty="0" sz="1700" spc="459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-225">
                <a:solidFill>
                  <a:srgbClr val="00E5FF"/>
                </a:solidFill>
                <a:latin typeface="Times New Roman"/>
                <a:cs typeface="Times New Roman"/>
              </a:rPr>
              <a:t>I</a:t>
            </a:r>
            <a:r>
              <a:rPr dirty="0" sz="1700" spc="-16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85">
                <a:solidFill>
                  <a:srgbClr val="00E5FF"/>
                </a:solidFill>
                <a:latin typeface="Times New Roman"/>
                <a:cs typeface="Times New Roman"/>
              </a:rPr>
              <a:t>T</a:t>
            </a:r>
            <a:r>
              <a:rPr dirty="0" sz="1700" spc="46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-225">
                <a:solidFill>
                  <a:srgbClr val="00E5FF"/>
                </a:solidFill>
                <a:latin typeface="Times New Roman"/>
                <a:cs typeface="Times New Roman"/>
              </a:rPr>
              <a:t>I</a:t>
            </a:r>
            <a:r>
              <a:rPr dirty="0" sz="1700" spc="-16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40">
                <a:solidFill>
                  <a:srgbClr val="00E5FF"/>
                </a:solidFill>
                <a:latin typeface="Times New Roman"/>
                <a:cs typeface="Times New Roman"/>
              </a:rPr>
              <a:t>S</a:t>
            </a:r>
            <a:r>
              <a:rPr dirty="0" sz="1700" spc="409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E5FF"/>
                </a:solidFill>
                <a:latin typeface="Times New Roman"/>
                <a:cs typeface="Times New Roman"/>
              </a:rPr>
              <a:t>F</a:t>
            </a:r>
            <a:r>
              <a:rPr dirty="0" sz="1700" spc="-25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05">
                <a:solidFill>
                  <a:srgbClr val="00E5FF"/>
                </a:solidFill>
                <a:latin typeface="Times New Roman"/>
                <a:cs typeface="Times New Roman"/>
              </a:rPr>
              <a:t>RAGM</a:t>
            </a:r>
            <a:r>
              <a:rPr dirty="0" sz="1700" spc="-21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14">
                <a:solidFill>
                  <a:srgbClr val="00E5FF"/>
                </a:solidFill>
                <a:latin typeface="Times New Roman"/>
                <a:cs typeface="Times New Roman"/>
              </a:rPr>
              <a:t>EN</a:t>
            </a:r>
            <a:r>
              <a:rPr dirty="0" sz="1700" spc="-22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700" spc="195">
                <a:solidFill>
                  <a:srgbClr val="00E5FF"/>
                </a:solidFill>
                <a:latin typeface="Times New Roman"/>
                <a:cs typeface="Times New Roman"/>
              </a:rPr>
              <a:t>TED</a:t>
            </a:r>
            <a:r>
              <a:rPr dirty="0" sz="650" spc="195">
                <a:solidFill>
                  <a:srgbClr val="00E5FF"/>
                </a:solidFill>
                <a:latin typeface="Times New Roman"/>
                <a:cs typeface="Times New Roman"/>
              </a:rPr>
              <a:t>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962" y="2376487"/>
            <a:ext cx="2638425" cy="2867025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3550" spc="1695">
                <a:solidFill>
                  <a:srgbClr val="F4F4F6"/>
                </a:solidFill>
                <a:latin typeface="Times New Roman"/>
                <a:cs typeface="Times New Roman"/>
              </a:rPr>
              <a:t>R</a:t>
            </a:r>
            <a:endParaRPr sz="3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Patient</a:t>
            </a:r>
            <a:endParaRPr sz="1800">
              <a:latin typeface="Cambria"/>
              <a:cs typeface="Cambria"/>
            </a:endParaRPr>
          </a:p>
          <a:p>
            <a:pPr marL="309245" marR="307975">
              <a:lnSpc>
                <a:spcPct val="130400"/>
              </a:lnSpc>
              <a:spcBef>
                <a:spcPts val="1070"/>
              </a:spcBef>
            </a:pPr>
            <a:r>
              <a:rPr dirty="0" sz="1150" spc="110">
                <a:solidFill>
                  <a:srgbClr val="9FA9BE"/>
                </a:solidFill>
                <a:latin typeface="Times New Roman"/>
                <a:cs typeface="Times New Roman"/>
              </a:rPr>
              <a:t>Needs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9FA9BE"/>
                </a:solidFill>
                <a:latin typeface="Times New Roman"/>
                <a:cs typeface="Times New Roman"/>
              </a:rPr>
              <a:t>immediate</a:t>
            </a:r>
            <a:r>
              <a:rPr dirty="0" sz="600" spc="90">
                <a:solidFill>
                  <a:srgbClr val="9FA9BE"/>
                </a:solidFill>
                <a:latin typeface="Times New Roman"/>
                <a:cs typeface="Times New Roman"/>
              </a:rPr>
              <a:t>,</a:t>
            </a:r>
            <a:r>
              <a:rPr dirty="0" sz="600" spc="5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specialized</a:t>
            </a:r>
            <a:r>
              <a:rPr dirty="0" sz="1150" spc="15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9FA9BE"/>
                </a:solidFill>
                <a:latin typeface="Times New Roman"/>
                <a:cs typeface="Times New Roman"/>
              </a:rPr>
              <a:t>care</a:t>
            </a:r>
            <a:r>
              <a:rPr dirty="0" sz="1150" spc="7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5">
                <a:solidFill>
                  <a:srgbClr val="9FA9BE"/>
                </a:solidFill>
                <a:latin typeface="Times New Roman"/>
                <a:cs typeface="Times New Roman"/>
              </a:rPr>
              <a:t>without</a:t>
            </a:r>
            <a:r>
              <a:rPr dirty="0" sz="1150" spc="75">
                <a:solidFill>
                  <a:srgbClr val="9FA9BE"/>
                </a:solidFill>
                <a:latin typeface="Times New Roman"/>
                <a:cs typeface="Times New Roman"/>
              </a:rPr>
              <a:t> the risk</a:t>
            </a:r>
            <a:r>
              <a:rPr dirty="0" sz="1150" spc="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5">
                <a:solidFill>
                  <a:srgbClr val="9FA9BE"/>
                </a:solidFill>
                <a:latin typeface="Times New Roman"/>
                <a:cs typeface="Times New Roman"/>
              </a:rPr>
              <a:t>of</a:t>
            </a:r>
            <a:r>
              <a:rPr dirty="0" sz="1150" spc="7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5">
                <a:solidFill>
                  <a:srgbClr val="9FA9BE"/>
                </a:solidFill>
                <a:latin typeface="Times New Roman"/>
                <a:cs typeface="Times New Roman"/>
              </a:rPr>
              <a:t>being</a:t>
            </a:r>
            <a:r>
              <a:rPr dirty="0" sz="1150" spc="14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9FA9BE"/>
                </a:solidFill>
                <a:latin typeface="Times New Roman"/>
                <a:cs typeface="Times New Roman"/>
              </a:rPr>
              <a:t>turned</a:t>
            </a:r>
            <a:r>
              <a:rPr dirty="0" sz="1150" spc="14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9FA9BE"/>
                </a:solidFill>
                <a:latin typeface="Times New Roman"/>
                <a:cs typeface="Times New Roman"/>
              </a:rPr>
              <a:t>away</a:t>
            </a:r>
            <a:r>
              <a:rPr dirty="0" sz="600" spc="7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512" y="2376487"/>
            <a:ext cx="2638425" cy="2867025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3550" spc="515">
                <a:solidFill>
                  <a:srgbClr val="F4F4F6"/>
                </a:solidFill>
                <a:latin typeface="MS PGothic"/>
                <a:cs typeface="MS PGothic"/>
              </a:rPr>
              <a:t>❤</a:t>
            </a:r>
            <a:endParaRPr sz="355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</a:pPr>
            <a:endParaRPr sz="300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MS PGothic"/>
              <a:cs typeface="MS PGothic"/>
            </a:endParaRPr>
          </a:p>
          <a:p>
            <a:pPr marL="309245">
              <a:lnSpc>
                <a:spcPct val="100000"/>
              </a:lnSpc>
            </a:pP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Family</a:t>
            </a:r>
            <a:endParaRPr sz="1800">
              <a:latin typeface="Cambria"/>
              <a:cs typeface="Cambria"/>
            </a:endParaRPr>
          </a:p>
          <a:p>
            <a:pPr algn="just" marL="309245" marR="327025">
              <a:lnSpc>
                <a:spcPct val="130400"/>
              </a:lnSpc>
              <a:spcBef>
                <a:spcPts val="1070"/>
              </a:spcBef>
            </a:pPr>
            <a:r>
              <a:rPr dirty="0" sz="1150" spc="110">
                <a:solidFill>
                  <a:srgbClr val="9FA9BE"/>
                </a:solidFill>
                <a:latin typeface="Times New Roman"/>
                <a:cs typeface="Times New Roman"/>
              </a:rPr>
              <a:t>Needs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9FA9BE"/>
                </a:solidFill>
                <a:latin typeface="Times New Roman"/>
                <a:cs typeface="Times New Roman"/>
              </a:rPr>
              <a:t>confidence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and</a:t>
            </a:r>
            <a:r>
              <a:rPr dirty="0" sz="1150" spc="15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9FA9BE"/>
                </a:solidFill>
                <a:latin typeface="Times New Roman"/>
                <a:cs typeface="Times New Roman"/>
              </a:rPr>
              <a:t>trust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that</a:t>
            </a:r>
            <a:r>
              <a:rPr dirty="0" sz="1150" spc="7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60">
                <a:solidFill>
                  <a:srgbClr val="9FA9BE"/>
                </a:solidFill>
                <a:latin typeface="Times New Roman"/>
                <a:cs typeface="Times New Roman"/>
              </a:rPr>
              <a:t>their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9FA9BE"/>
                </a:solidFill>
                <a:latin typeface="Times New Roman"/>
                <a:cs typeface="Times New Roman"/>
              </a:rPr>
              <a:t>loved</a:t>
            </a:r>
            <a:r>
              <a:rPr dirty="0" sz="1150" spc="1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20">
                <a:solidFill>
                  <a:srgbClr val="9FA9BE"/>
                </a:solidFill>
                <a:latin typeface="Times New Roman"/>
                <a:cs typeface="Times New Roman"/>
              </a:rPr>
              <a:t>one</a:t>
            </a:r>
            <a:r>
              <a:rPr dirty="0" sz="1150" spc="8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is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9FA9BE"/>
                </a:solidFill>
                <a:latin typeface="Times New Roman"/>
                <a:cs typeface="Times New Roman"/>
              </a:rPr>
              <a:t>in</a:t>
            </a:r>
            <a:r>
              <a:rPr dirty="0" sz="11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75">
                <a:solidFill>
                  <a:srgbClr val="9FA9BE"/>
                </a:solidFill>
                <a:latin typeface="Times New Roman"/>
                <a:cs typeface="Times New Roman"/>
              </a:rPr>
              <a:t>the 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right</a:t>
            </a:r>
            <a:r>
              <a:rPr dirty="0" sz="1150" spc="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10">
                <a:solidFill>
                  <a:srgbClr val="9FA9BE"/>
                </a:solidFill>
                <a:latin typeface="Times New Roman"/>
                <a:cs typeface="Times New Roman"/>
              </a:rPr>
              <a:t>hands</a:t>
            </a:r>
            <a:r>
              <a:rPr dirty="0" sz="600" spc="11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5062" y="2376487"/>
            <a:ext cx="2638425" cy="2867025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355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endParaRPr sz="3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Ambulance</a:t>
            </a:r>
            <a:endParaRPr sz="1800">
              <a:latin typeface="Cambria"/>
              <a:cs typeface="Cambria"/>
            </a:endParaRPr>
          </a:p>
          <a:p>
            <a:pPr marL="309245" marR="397510">
              <a:lnSpc>
                <a:spcPct val="130400"/>
              </a:lnSpc>
              <a:spcBef>
                <a:spcPts val="1070"/>
              </a:spcBef>
            </a:pPr>
            <a:r>
              <a:rPr dirty="0" sz="1150" spc="110">
                <a:solidFill>
                  <a:srgbClr val="9FA9BE"/>
                </a:solidFill>
                <a:latin typeface="Times New Roman"/>
                <a:cs typeface="Times New Roman"/>
              </a:rPr>
              <a:t>Needs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right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9FA9BE"/>
                </a:solidFill>
                <a:latin typeface="Times New Roman"/>
                <a:cs typeface="Times New Roman"/>
              </a:rPr>
              <a:t>destination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and</a:t>
            </a:r>
            <a:r>
              <a:rPr dirty="0" sz="1150" spc="15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5">
                <a:solidFill>
                  <a:srgbClr val="9FA9BE"/>
                </a:solidFill>
                <a:latin typeface="Times New Roman"/>
                <a:cs typeface="Times New Roman"/>
              </a:rPr>
              <a:t>fastest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9FA9BE"/>
                </a:solidFill>
                <a:latin typeface="Times New Roman"/>
                <a:cs typeface="Times New Roman"/>
              </a:rPr>
              <a:t>practical </a:t>
            </a:r>
            <a:r>
              <a:rPr dirty="0" sz="1150" spc="95">
                <a:solidFill>
                  <a:srgbClr val="9FA9BE"/>
                </a:solidFill>
                <a:latin typeface="Times New Roman"/>
                <a:cs typeface="Times New Roman"/>
              </a:rPr>
              <a:t>route</a:t>
            </a:r>
            <a:r>
              <a:rPr dirty="0" sz="11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9FA9BE"/>
                </a:solidFill>
                <a:latin typeface="Times New Roman"/>
                <a:cs typeface="Times New Roman"/>
              </a:rPr>
              <a:t>in</a:t>
            </a:r>
            <a:r>
              <a:rPr dirty="0" sz="1150" spc="1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9FA9BE"/>
                </a:solidFill>
                <a:latin typeface="Times New Roman"/>
                <a:cs typeface="Times New Roman"/>
              </a:rPr>
              <a:t>real</a:t>
            </a:r>
            <a:r>
              <a:rPr dirty="0" sz="600" spc="85">
                <a:solidFill>
                  <a:srgbClr val="9FA9BE"/>
                </a:solidFill>
                <a:latin typeface="Times New Roman"/>
                <a:cs typeface="Times New Roman"/>
              </a:rPr>
              <a:t>-</a:t>
            </a:r>
            <a:r>
              <a:rPr dirty="0" sz="1150" spc="85">
                <a:solidFill>
                  <a:srgbClr val="9FA9BE"/>
                </a:solidFill>
                <a:latin typeface="Times New Roman"/>
                <a:cs typeface="Times New Roman"/>
              </a:rPr>
              <a:t>time</a:t>
            </a:r>
            <a:r>
              <a:rPr dirty="0" sz="600" spc="85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91612" y="2376487"/>
            <a:ext cx="2638425" cy="2867025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355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endParaRPr sz="3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Hospital</a:t>
            </a:r>
            <a:endParaRPr sz="1800">
              <a:latin typeface="Cambria"/>
              <a:cs typeface="Cambria"/>
            </a:endParaRPr>
          </a:p>
          <a:p>
            <a:pPr marL="309245" marR="298450">
              <a:lnSpc>
                <a:spcPct val="130400"/>
              </a:lnSpc>
              <a:spcBef>
                <a:spcPts val="1070"/>
              </a:spcBef>
            </a:pPr>
            <a:r>
              <a:rPr dirty="0" sz="1150" spc="110">
                <a:solidFill>
                  <a:srgbClr val="9FA9BE"/>
                </a:solidFill>
                <a:latin typeface="Times New Roman"/>
                <a:cs typeface="Times New Roman"/>
              </a:rPr>
              <a:t>Needs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time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14">
                <a:solidFill>
                  <a:srgbClr val="9FA9BE"/>
                </a:solidFill>
                <a:latin typeface="Times New Roman"/>
                <a:cs typeface="Times New Roman"/>
              </a:rPr>
              <a:t>to</a:t>
            </a:r>
            <a:r>
              <a:rPr dirty="0" sz="11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prepare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resources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and</a:t>
            </a:r>
            <a:r>
              <a:rPr dirty="0" sz="1150" spc="15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30">
                <a:solidFill>
                  <a:srgbClr val="9FA9BE"/>
                </a:solidFill>
                <a:latin typeface="Times New Roman"/>
                <a:cs typeface="Times New Roman"/>
              </a:rPr>
              <a:t>teams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before </a:t>
            </a:r>
            <a:r>
              <a:rPr dirty="0" sz="1150" spc="100">
                <a:solidFill>
                  <a:srgbClr val="9FA9BE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95">
                <a:solidFill>
                  <a:srgbClr val="9FA9BE"/>
                </a:solidFill>
                <a:latin typeface="Times New Roman"/>
                <a:cs typeface="Times New Roman"/>
              </a:rPr>
              <a:t>patient</a:t>
            </a:r>
            <a:r>
              <a:rPr dirty="0" sz="1150" spc="60">
                <a:solidFill>
                  <a:srgbClr val="9FA9BE"/>
                </a:solidFill>
                <a:latin typeface="Times New Roman"/>
                <a:cs typeface="Times New Roman"/>
              </a:rPr>
              <a:t> arrives</a:t>
            </a:r>
            <a:r>
              <a:rPr dirty="0" sz="600" spc="6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5705475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11277600" y="0"/>
                </a:moveTo>
                <a:lnTo>
                  <a:pt x="0" y="0"/>
                </a:lnTo>
                <a:lnTo>
                  <a:pt x="0" y="9525"/>
                </a:lnTo>
                <a:lnTo>
                  <a:pt x="11277600" y="9525"/>
                </a:lnTo>
                <a:lnTo>
                  <a:pt x="11277600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82900" y="5927611"/>
            <a:ext cx="641159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5"/>
              </a:lnSpc>
              <a:spcBef>
                <a:spcPts val="100"/>
              </a:spcBef>
            </a:pPr>
            <a:r>
              <a:rPr dirty="0" sz="1450">
                <a:solidFill>
                  <a:srgbClr val="F4F4F6"/>
                </a:solidFill>
                <a:latin typeface="Times New Roman"/>
                <a:cs typeface="Times New Roman"/>
              </a:rPr>
              <a:t>In</a:t>
            </a:r>
            <a:r>
              <a:rPr dirty="0" sz="1450" spc="1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65">
                <a:solidFill>
                  <a:srgbClr val="F4F4F6"/>
                </a:solidFill>
                <a:latin typeface="Times New Roman"/>
                <a:cs typeface="Times New Roman"/>
              </a:rPr>
              <a:t>an </a:t>
            </a:r>
            <a:r>
              <a:rPr dirty="0" sz="1450" spc="220">
                <a:solidFill>
                  <a:srgbClr val="F4F4F6"/>
                </a:solidFill>
                <a:latin typeface="Times New Roman"/>
                <a:cs typeface="Times New Roman"/>
              </a:rPr>
              <a:t>emergency</a:t>
            </a:r>
            <a:r>
              <a:rPr dirty="0" sz="1450" spc="4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55">
                <a:solidFill>
                  <a:srgbClr val="F4F4F6"/>
                </a:solidFill>
                <a:latin typeface="Times New Roman"/>
                <a:cs typeface="Times New Roman"/>
              </a:rPr>
              <a:t>choosing</a:t>
            </a:r>
            <a:r>
              <a:rPr dirty="0" sz="1450" spc="1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204">
                <a:solidFill>
                  <a:srgbClr val="F4F4F6"/>
                </a:solidFill>
                <a:latin typeface="Times New Roman"/>
                <a:cs typeface="Times New Roman"/>
              </a:rPr>
              <a:t>the</a:t>
            </a:r>
            <a:r>
              <a:rPr dirty="0" sz="1450" spc="1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35">
                <a:solidFill>
                  <a:srgbClr val="F4F4F6"/>
                </a:solidFill>
                <a:latin typeface="Times New Roman"/>
                <a:cs typeface="Times New Roman"/>
              </a:rPr>
              <a:t>wrong</a:t>
            </a:r>
            <a:r>
              <a:rPr dirty="0" sz="1450" spc="1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20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450" spc="20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85">
                <a:solidFill>
                  <a:srgbClr val="F4F4F6"/>
                </a:solidFill>
                <a:latin typeface="Times New Roman"/>
                <a:cs typeface="Times New Roman"/>
              </a:rPr>
              <a:t>can</a:t>
            </a:r>
            <a:r>
              <a:rPr dirty="0" sz="1450" spc="16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85">
                <a:solidFill>
                  <a:srgbClr val="F4F4F6"/>
                </a:solidFill>
                <a:latin typeface="Times New Roman"/>
                <a:cs typeface="Times New Roman"/>
              </a:rPr>
              <a:t>cost</a:t>
            </a:r>
            <a:r>
              <a:rPr dirty="0" sz="1450" spc="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165">
                <a:solidFill>
                  <a:srgbClr val="F4F4F6"/>
                </a:solidFill>
                <a:latin typeface="Times New Roman"/>
                <a:cs typeface="Times New Roman"/>
              </a:rPr>
              <a:t>precious</a:t>
            </a:r>
            <a:r>
              <a:rPr dirty="0" sz="1450" spc="14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50" spc="80">
                <a:solidFill>
                  <a:srgbClr val="F4F4F6"/>
                </a:solidFill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  <a:p>
            <a:pPr marL="1527175">
              <a:lnSpc>
                <a:spcPts val="185"/>
              </a:lnSpc>
              <a:tabLst>
                <a:tab pos="6355715" algn="l"/>
              </a:tabLst>
            </a:pPr>
            <a:r>
              <a:rPr dirty="0" sz="450" spc="165">
                <a:solidFill>
                  <a:srgbClr val="F4F4F6"/>
                </a:solidFill>
                <a:latin typeface="Times New Roman"/>
                <a:cs typeface="Times New Roman"/>
              </a:rPr>
              <a:t>,</a:t>
            </a:r>
            <a:r>
              <a:rPr dirty="0" sz="450">
                <a:solidFill>
                  <a:srgbClr val="F4F4F6"/>
                </a:solidFill>
                <a:latin typeface="Times New Roman"/>
                <a:cs typeface="Times New Roman"/>
              </a:rPr>
              <a:t>	</a:t>
            </a:r>
            <a:r>
              <a:rPr dirty="0" sz="450" spc="170">
                <a:solidFill>
                  <a:srgbClr val="F4F4F6"/>
                </a:solidFill>
                <a:latin typeface="Times New Roman"/>
                <a:cs typeface="Times New Roman"/>
              </a:rPr>
              <a:t>.</a:t>
            </a:r>
            <a:endParaRPr sz="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20925" y="1273175"/>
            <a:ext cx="7553959" cy="112649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 indent="9525">
              <a:lnSpc>
                <a:spcPct val="100699"/>
              </a:lnSpc>
              <a:spcBef>
                <a:spcPts val="70"/>
              </a:spcBef>
            </a:pPr>
            <a:r>
              <a:rPr dirty="0"/>
              <a:t>What</a:t>
            </a:r>
            <a:r>
              <a:rPr dirty="0" spc="-85"/>
              <a:t> </a:t>
            </a:r>
            <a:r>
              <a:rPr dirty="0"/>
              <a:t>if</a:t>
            </a:r>
            <a:r>
              <a:rPr dirty="0" spc="-145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25"/>
              <a:t>emergency</a:t>
            </a:r>
            <a:r>
              <a:rPr dirty="0" spc="-150"/>
              <a:t> </a:t>
            </a:r>
            <a:r>
              <a:rPr dirty="0" spc="-25"/>
              <a:t>system</a:t>
            </a:r>
            <a:r>
              <a:rPr dirty="0" spc="-114"/>
              <a:t> </a:t>
            </a:r>
            <a:r>
              <a:rPr dirty="0" spc="-10"/>
              <a:t>could </a:t>
            </a:r>
            <a:r>
              <a:rPr dirty="0"/>
              <a:t>think</a:t>
            </a:r>
            <a:r>
              <a:rPr dirty="0" spc="-135"/>
              <a:t> </a:t>
            </a:r>
            <a:r>
              <a:rPr dirty="0" spc="-60"/>
              <a:t>before</a:t>
            </a:r>
            <a:r>
              <a:rPr dirty="0" spc="-135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/>
              <a:t>ambulance</a:t>
            </a:r>
            <a:r>
              <a:rPr dirty="0" spc="-110"/>
              <a:t> </a:t>
            </a:r>
            <a:r>
              <a:rPr dirty="0" spc="-10"/>
              <a:t>arrives?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45"/>
              <a:t>PRAANJEEV</a:t>
            </a:r>
            <a:r>
              <a:rPr dirty="0" spc="180"/>
              <a:t> </a:t>
            </a:r>
            <a:r>
              <a:rPr dirty="0" sz="7100" spc="15" b="0">
                <a:solidFill>
                  <a:srgbClr val="FFB200"/>
                </a:solidFill>
                <a:latin typeface="Times New Roman"/>
                <a:cs typeface="Times New Roman"/>
              </a:rPr>
              <a:t>ær</a:t>
            </a:r>
            <a:r>
              <a:rPr dirty="0" sz="7100" spc="665" b="0">
                <a:solidFill>
                  <a:srgbClr val="FFB200"/>
                </a:solidFill>
                <a:latin typeface="MS PGothic"/>
                <a:cs typeface="MS PGothic"/>
              </a:rPr>
              <a:t>❤</a:t>
            </a:r>
            <a:endParaRPr sz="7100">
              <a:latin typeface="MS PGothic"/>
              <a:cs typeface="MS PGothic"/>
            </a:endParaRPr>
          </a:p>
          <a:p>
            <a:pPr marL="212725">
              <a:lnSpc>
                <a:spcPct val="100000"/>
              </a:lnSpc>
              <a:spcBef>
                <a:spcPts val="1605"/>
              </a:spcBef>
              <a:tabLst>
                <a:tab pos="2136140" algn="l"/>
              </a:tabLst>
            </a:pP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700" spc="-16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-225" b="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700" spc="-1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50" spc="250" b="0">
                <a:solidFill>
                  <a:srgbClr val="9FA9BE"/>
                </a:solidFill>
                <a:latin typeface="Times New Roman"/>
                <a:cs typeface="Times New Roman"/>
              </a:rPr>
              <a:t>-</a:t>
            </a:r>
            <a:r>
              <a:rPr dirty="0" sz="150" spc="33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140" b="0">
                <a:solidFill>
                  <a:srgbClr val="9FA9BE"/>
                </a:solidFill>
                <a:latin typeface="Times New Roman"/>
                <a:cs typeface="Times New Roman"/>
              </a:rPr>
              <a:t>P</a:t>
            </a:r>
            <a:r>
              <a:rPr dirty="0" sz="1700" spc="-14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95" b="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700" spc="-16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335" b="0">
                <a:solidFill>
                  <a:srgbClr val="9FA9BE"/>
                </a:solidFill>
                <a:latin typeface="Times New Roman"/>
                <a:cs typeface="Times New Roman"/>
              </a:rPr>
              <a:t>W</a:t>
            </a:r>
            <a:r>
              <a:rPr dirty="0" sz="1700" spc="-22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0" b="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00" spc="-114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5" b="0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700" spc="-19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0" b="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00" spc="-114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-60" b="0">
                <a:solidFill>
                  <a:srgbClr val="9FA9BE"/>
                </a:solidFill>
                <a:latin typeface="Times New Roman"/>
                <a:cs typeface="Times New Roman"/>
              </a:rPr>
              <a:t>D</a:t>
            </a: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	</a:t>
            </a:r>
            <a:r>
              <a:rPr dirty="0" sz="1700" spc="50" b="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00" spc="-114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M</a:t>
            </a:r>
            <a:r>
              <a:rPr dirty="0" sz="1700" spc="-7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0" b="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00" spc="-114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5" b="0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700" spc="-19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60" b="0">
                <a:solidFill>
                  <a:srgbClr val="9FA9BE"/>
                </a:solidFill>
                <a:latin typeface="Times New Roman"/>
                <a:cs typeface="Times New Roman"/>
              </a:rPr>
              <a:t>G</a:t>
            </a:r>
            <a:r>
              <a:rPr dirty="0" sz="1700" spc="-114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0" b="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700" spc="-11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700" spc="-7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190" b="0">
                <a:solidFill>
                  <a:srgbClr val="9FA9BE"/>
                </a:solidFill>
                <a:latin typeface="Times New Roman"/>
                <a:cs typeface="Times New Roman"/>
              </a:rPr>
              <a:t>C</a:t>
            </a:r>
            <a:r>
              <a:rPr dirty="0" sz="1700" spc="-10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Y</a:t>
            </a:r>
            <a:r>
              <a:rPr dirty="0" sz="1700" spc="100" b="0">
                <a:solidFill>
                  <a:srgbClr val="9FA9BE"/>
                </a:solidFill>
                <a:latin typeface="Times New Roman"/>
                <a:cs typeface="Times New Roman"/>
              </a:rPr>
              <a:t>  </a:t>
            </a:r>
            <a:r>
              <a:rPr dirty="0" sz="1700" spc="190" b="0">
                <a:solidFill>
                  <a:srgbClr val="9FA9BE"/>
                </a:solidFill>
                <a:latin typeface="Times New Roman"/>
                <a:cs typeface="Times New Roman"/>
              </a:rPr>
              <a:t>C</a:t>
            </a:r>
            <a:r>
              <a:rPr dirty="0" sz="1700" spc="-9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95" b="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700" spc="-16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95" b="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700" spc="-16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55" b="0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700" spc="-19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D</a:t>
            </a:r>
            <a:r>
              <a:rPr dirty="0" sz="1700" spc="-14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-225" b="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700" spc="-1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b="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700" spc="-7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160" b="0">
                <a:solidFill>
                  <a:srgbClr val="9FA9BE"/>
                </a:solidFill>
                <a:latin typeface="Times New Roman"/>
                <a:cs typeface="Times New Roman"/>
              </a:rPr>
              <a:t>AT</a:t>
            </a:r>
            <a:r>
              <a:rPr dirty="0" sz="1700" spc="-95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-225" b="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700" spc="-1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95" b="0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700" spc="-160" b="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700" spc="-50" b="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2950" y="5185949"/>
            <a:ext cx="151130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85">
                <a:solidFill>
                  <a:srgbClr val="F4F4F6"/>
                </a:solidFill>
                <a:latin typeface="Times New Roman"/>
                <a:cs typeface="Times New Roman"/>
              </a:rPr>
              <a:t>RI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F4F4F6"/>
                </a:solidFill>
                <a:latin typeface="Times New Roman"/>
                <a:cs typeface="Times New Roman"/>
              </a:rPr>
              <a:t>GHT</a:t>
            </a:r>
            <a:r>
              <a:rPr dirty="0" sz="1300" spc="1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95">
                <a:solidFill>
                  <a:srgbClr val="F4F4F6"/>
                </a:solidFill>
                <a:latin typeface="Times New Roman"/>
                <a:cs typeface="Times New Roman"/>
              </a:rPr>
              <a:t>HOSPI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25">
                <a:solidFill>
                  <a:srgbClr val="F4F4F6"/>
                </a:solidFill>
                <a:latin typeface="Times New Roman"/>
                <a:cs typeface="Times New Roman"/>
              </a:rPr>
              <a:t>TAL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57625" y="5553075"/>
            <a:ext cx="381000" cy="19050"/>
          </a:xfrm>
          <a:custGeom>
            <a:avLst/>
            <a:gdLst/>
            <a:ahLst/>
            <a:cxnLst/>
            <a:rect l="l" t="t" r="r" b="b"/>
            <a:pathLst>
              <a:path w="381000" h="19050">
                <a:moveTo>
                  <a:pt x="381000" y="0"/>
                </a:moveTo>
                <a:lnTo>
                  <a:pt x="0" y="0"/>
                </a:lnTo>
                <a:lnTo>
                  <a:pt x="0" y="19050"/>
                </a:lnTo>
                <a:lnTo>
                  <a:pt x="381000" y="19050"/>
                </a:lnTo>
                <a:lnTo>
                  <a:pt x="381000" y="0"/>
                </a:lnTo>
                <a:close/>
              </a:path>
            </a:pathLst>
          </a:custGeom>
          <a:solidFill>
            <a:srgbClr val="00E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49875" y="5185949"/>
            <a:ext cx="191135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85">
                <a:solidFill>
                  <a:srgbClr val="F4F4F6"/>
                </a:solidFill>
                <a:latin typeface="Times New Roman"/>
                <a:cs typeface="Times New Roman"/>
              </a:rPr>
              <a:t>RI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F4F4F6"/>
                </a:solidFill>
                <a:latin typeface="Times New Roman"/>
                <a:cs typeface="Times New Roman"/>
              </a:rPr>
              <a:t>GHT</a:t>
            </a:r>
            <a:r>
              <a:rPr dirty="0" sz="1300" spc="1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240">
                <a:solidFill>
                  <a:srgbClr val="F4F4F6"/>
                </a:solidFill>
                <a:latin typeface="Times New Roman"/>
                <a:cs typeface="Times New Roman"/>
              </a:rPr>
              <a:t>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F4F4F6"/>
                </a:solidFill>
                <a:latin typeface="Times New Roman"/>
                <a:cs typeface="Times New Roman"/>
              </a:rPr>
              <a:t>N</a:t>
            </a:r>
            <a:r>
              <a:rPr dirty="0" sz="1300" spc="-16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F4F4F6"/>
                </a:solidFill>
                <a:latin typeface="Times New Roman"/>
                <a:cs typeface="Times New Roman"/>
              </a:rPr>
              <a:t>F</a:t>
            </a:r>
            <a:r>
              <a:rPr dirty="0" sz="1300" spc="-18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F4F4F6"/>
                </a:solidFill>
                <a:latin typeface="Times New Roman"/>
                <a:cs typeface="Times New Roman"/>
              </a:rPr>
              <a:t>ORMATI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25">
                <a:solidFill>
                  <a:srgbClr val="F4F4F6"/>
                </a:solidFill>
                <a:latin typeface="Times New Roman"/>
                <a:cs typeface="Times New Roman"/>
              </a:rPr>
              <a:t>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24575" y="5553075"/>
            <a:ext cx="381000" cy="19050"/>
          </a:xfrm>
          <a:custGeom>
            <a:avLst/>
            <a:gdLst/>
            <a:ahLst/>
            <a:cxnLst/>
            <a:rect l="l" t="t" r="r" b="b"/>
            <a:pathLst>
              <a:path w="381000" h="19050">
                <a:moveTo>
                  <a:pt x="381000" y="0"/>
                </a:moveTo>
                <a:lnTo>
                  <a:pt x="0" y="0"/>
                </a:lnTo>
                <a:lnTo>
                  <a:pt x="0" y="19050"/>
                </a:lnTo>
                <a:lnTo>
                  <a:pt x="381000" y="19050"/>
                </a:lnTo>
                <a:lnTo>
                  <a:pt x="381000" y="0"/>
                </a:lnTo>
                <a:close/>
              </a:path>
            </a:pathLst>
          </a:custGeom>
          <a:solidFill>
            <a:srgbClr val="FFB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26375" y="5185949"/>
            <a:ext cx="106680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85">
                <a:solidFill>
                  <a:srgbClr val="F4F4F6"/>
                </a:solidFill>
                <a:latin typeface="Times New Roman"/>
                <a:cs typeface="Times New Roman"/>
              </a:rPr>
              <a:t>RI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F4F4F6"/>
                </a:solidFill>
                <a:latin typeface="Times New Roman"/>
                <a:cs typeface="Times New Roman"/>
              </a:rPr>
              <a:t>GHT</a:t>
            </a:r>
            <a:r>
              <a:rPr dirty="0" sz="1300" spc="1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85">
                <a:solidFill>
                  <a:srgbClr val="F4F4F6"/>
                </a:solidFill>
                <a:latin typeface="Times New Roman"/>
                <a:cs typeface="Times New Roman"/>
              </a:rPr>
              <a:t>TI</a:t>
            </a:r>
            <a:r>
              <a:rPr dirty="0" sz="13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25">
                <a:solidFill>
                  <a:srgbClr val="F4F4F6"/>
                </a:solidFill>
                <a:latin typeface="Times New Roman"/>
                <a:cs typeface="Times New Roman"/>
              </a:rPr>
              <a:t>ME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81975" y="5553075"/>
            <a:ext cx="381000" cy="19050"/>
          </a:xfrm>
          <a:custGeom>
            <a:avLst/>
            <a:gdLst/>
            <a:ahLst/>
            <a:cxnLst/>
            <a:rect l="l" t="t" r="r" b="b"/>
            <a:pathLst>
              <a:path w="381000" h="19050">
                <a:moveTo>
                  <a:pt x="381000" y="0"/>
                </a:moveTo>
                <a:lnTo>
                  <a:pt x="0" y="0"/>
                </a:lnTo>
                <a:lnTo>
                  <a:pt x="0" y="19050"/>
                </a:lnTo>
                <a:lnTo>
                  <a:pt x="381000" y="19050"/>
                </a:lnTo>
                <a:lnTo>
                  <a:pt x="381000" y="0"/>
                </a:lnTo>
                <a:close/>
              </a:path>
            </a:pathLst>
          </a:custGeom>
          <a:solidFill>
            <a:srgbClr val="00E5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dirty="0" spc="-150"/>
              <a:t> </a:t>
            </a:r>
            <a:r>
              <a:rPr dirty="0"/>
              <a:t>moving</a:t>
            </a:r>
            <a:r>
              <a:rPr dirty="0" spc="-55"/>
              <a:t> </a:t>
            </a:r>
            <a:r>
              <a:rPr dirty="0"/>
              <a:t>at</a:t>
            </a:r>
            <a:r>
              <a:rPr dirty="0" spc="-140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10"/>
              <a:t>speed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an</a:t>
            </a:r>
            <a:r>
              <a:rPr dirty="0" spc="-120"/>
              <a:t> </a:t>
            </a:r>
            <a:r>
              <a:rPr dirty="0" spc="-10"/>
              <a:t>emergency.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4705350"/>
            <a:ext cx="11277600" cy="1314450"/>
            <a:chOff x="457200" y="4705350"/>
            <a:chExt cx="11277600" cy="1314450"/>
          </a:xfrm>
        </p:grpSpPr>
        <p:sp>
          <p:nvSpPr>
            <p:cNvPr id="4" name="object 4"/>
            <p:cNvSpPr/>
            <p:nvPr/>
          </p:nvSpPr>
          <p:spPr>
            <a:xfrm>
              <a:off x="457200" y="4705350"/>
              <a:ext cx="11277600" cy="1314450"/>
            </a:xfrm>
            <a:custGeom>
              <a:avLst/>
              <a:gdLst/>
              <a:ahLst/>
              <a:cxnLst/>
              <a:rect l="l" t="t" r="r" b="b"/>
              <a:pathLst>
                <a:path w="11277600" h="1314450">
                  <a:moveTo>
                    <a:pt x="11277600" y="0"/>
                  </a:moveTo>
                  <a:lnTo>
                    <a:pt x="0" y="0"/>
                  </a:lnTo>
                  <a:lnTo>
                    <a:pt x="0" y="1314450"/>
                  </a:lnTo>
                  <a:lnTo>
                    <a:pt x="11277600" y="1314450"/>
                  </a:lnTo>
                  <a:lnTo>
                    <a:pt x="11277600" y="0"/>
                  </a:lnTo>
                  <a:close/>
                </a:path>
              </a:pathLst>
            </a:custGeom>
            <a:solidFill>
              <a:srgbClr val="1A253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4705350"/>
              <a:ext cx="38100" cy="1314450"/>
            </a:xfrm>
            <a:custGeom>
              <a:avLst/>
              <a:gdLst/>
              <a:ahLst/>
              <a:cxnLst/>
              <a:rect l="l" t="t" r="r" b="b"/>
              <a:pathLst>
                <a:path w="38100" h="1314450">
                  <a:moveTo>
                    <a:pt x="38100" y="0"/>
                  </a:moveTo>
                  <a:lnTo>
                    <a:pt x="0" y="0"/>
                  </a:lnTo>
                  <a:lnTo>
                    <a:pt x="0" y="1314450"/>
                  </a:lnTo>
                  <a:lnTo>
                    <a:pt x="38100" y="131445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B2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95300" y="4984115"/>
            <a:ext cx="11239500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165" marR="1057910">
              <a:lnSpc>
                <a:spcPct val="110100"/>
              </a:lnSpc>
              <a:spcBef>
                <a:spcPts val="100"/>
              </a:spcBef>
            </a:pP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“Instead</a:t>
            </a:r>
            <a:r>
              <a:rPr dirty="0" sz="2100" spc="6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of</a:t>
            </a:r>
            <a:r>
              <a:rPr dirty="0" sz="2100" spc="5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the</a:t>
            </a:r>
            <a:r>
              <a:rPr dirty="0" sz="2100" spc="3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hospital</a:t>
            </a:r>
            <a:r>
              <a:rPr dirty="0" sz="2100" spc="70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meeting</a:t>
            </a:r>
            <a:r>
              <a:rPr dirty="0" sz="2100" spc="10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the</a:t>
            </a:r>
            <a:r>
              <a:rPr dirty="0" sz="2100" spc="3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spc="-10" b="1">
                <a:solidFill>
                  <a:srgbClr val="F4F4F6"/>
                </a:solidFill>
                <a:latin typeface="Cambria"/>
                <a:cs typeface="Cambria"/>
              </a:rPr>
              <a:t>emergency</a:t>
            </a:r>
            <a:r>
              <a:rPr dirty="0" sz="2100" spc="10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at</a:t>
            </a:r>
            <a:r>
              <a:rPr dirty="0" sz="2100" spc="5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arrival,</a:t>
            </a:r>
            <a:r>
              <a:rPr dirty="0" sz="2100" spc="7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spc="50" b="1">
                <a:solidFill>
                  <a:srgbClr val="F4F4F6"/>
                </a:solidFill>
                <a:latin typeface="Cambria"/>
                <a:cs typeface="Cambria"/>
              </a:rPr>
              <a:t>PRAANJEEV</a:t>
            </a:r>
            <a:r>
              <a:rPr dirty="0" sz="2100" spc="6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helps</a:t>
            </a:r>
            <a:r>
              <a:rPr dirty="0" sz="2100" spc="5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spc="-25" b="1">
                <a:solidFill>
                  <a:srgbClr val="F4F4F6"/>
                </a:solidFill>
                <a:latin typeface="Cambria"/>
                <a:cs typeface="Cambria"/>
              </a:rPr>
              <a:t>the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hospital</a:t>
            </a:r>
            <a:r>
              <a:rPr dirty="0" sz="2100" spc="20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prepare</a:t>
            </a:r>
            <a:r>
              <a:rPr dirty="0" sz="2100" spc="-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b="1">
                <a:solidFill>
                  <a:srgbClr val="F4F4F6"/>
                </a:solidFill>
                <a:latin typeface="Cambria"/>
                <a:cs typeface="Cambria"/>
              </a:rPr>
              <a:t>for</a:t>
            </a:r>
            <a:r>
              <a:rPr dirty="0" sz="2100" spc="-65" b="1">
                <a:solidFill>
                  <a:srgbClr val="F4F4F6"/>
                </a:solidFill>
                <a:latin typeface="Cambria"/>
                <a:cs typeface="Cambria"/>
              </a:rPr>
              <a:t> </a:t>
            </a:r>
            <a:r>
              <a:rPr dirty="0" sz="2100" spc="-20" b="1">
                <a:solidFill>
                  <a:srgbClr val="F4F4F6"/>
                </a:solidFill>
                <a:latin typeface="Cambria"/>
                <a:cs typeface="Cambria"/>
              </a:rPr>
              <a:t>it.”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33450" y="1638300"/>
            <a:ext cx="10325100" cy="381000"/>
            <a:chOff x="933450" y="1638300"/>
            <a:chExt cx="10325100" cy="381000"/>
          </a:xfrm>
        </p:grpSpPr>
        <p:sp>
          <p:nvSpPr>
            <p:cNvPr id="8" name="object 8"/>
            <p:cNvSpPr/>
            <p:nvPr/>
          </p:nvSpPr>
          <p:spPr>
            <a:xfrm>
              <a:off x="933450" y="182880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103251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325100" y="9525"/>
                  </a:lnTo>
                  <a:lnTo>
                    <a:pt x="10325100" y="0"/>
                  </a:lnTo>
                  <a:close/>
                </a:path>
              </a:pathLst>
            </a:custGeom>
            <a:solidFill>
              <a:srgbClr val="2C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33475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0"/>
                  </a:moveTo>
                  <a:lnTo>
                    <a:pt x="136991" y="5424"/>
                  </a:lnTo>
                  <a:lnTo>
                    <a:pt x="95662" y="21370"/>
                  </a:lnTo>
                  <a:lnTo>
                    <a:pt x="59446" y="46873"/>
                  </a:lnTo>
                  <a:lnTo>
                    <a:pt x="30500" y="80429"/>
                  </a:lnTo>
                  <a:lnTo>
                    <a:pt x="10574" y="120015"/>
                  </a:lnTo>
                  <a:lnTo>
                    <a:pt x="869" y="163231"/>
                  </a:lnTo>
                  <a:lnTo>
                    <a:pt x="0" y="180975"/>
                  </a:lnTo>
                  <a:lnTo>
                    <a:pt x="217" y="189866"/>
                  </a:lnTo>
                  <a:lnTo>
                    <a:pt x="7790" y="233511"/>
                  </a:lnTo>
                  <a:lnTo>
                    <a:pt x="25740" y="274007"/>
                  </a:lnTo>
                  <a:lnTo>
                    <a:pt x="53007" y="308940"/>
                  </a:lnTo>
                  <a:lnTo>
                    <a:pt x="87943" y="336204"/>
                  </a:lnTo>
                  <a:lnTo>
                    <a:pt x="128440" y="354158"/>
                  </a:lnTo>
                  <a:lnTo>
                    <a:pt x="172083" y="361733"/>
                  </a:lnTo>
                  <a:lnTo>
                    <a:pt x="180975" y="361950"/>
                  </a:lnTo>
                  <a:lnTo>
                    <a:pt x="189868" y="361733"/>
                  </a:lnTo>
                  <a:lnTo>
                    <a:pt x="233511" y="354158"/>
                  </a:lnTo>
                  <a:lnTo>
                    <a:pt x="274007" y="336204"/>
                  </a:lnTo>
                  <a:lnTo>
                    <a:pt x="308940" y="308940"/>
                  </a:lnTo>
                  <a:lnTo>
                    <a:pt x="336204" y="274007"/>
                  </a:lnTo>
                  <a:lnTo>
                    <a:pt x="354158" y="233511"/>
                  </a:lnTo>
                  <a:lnTo>
                    <a:pt x="361733" y="189866"/>
                  </a:lnTo>
                  <a:lnTo>
                    <a:pt x="361950" y="180975"/>
                  </a:lnTo>
                  <a:lnTo>
                    <a:pt x="361733" y="172081"/>
                  </a:lnTo>
                  <a:lnTo>
                    <a:pt x="354158" y="128438"/>
                  </a:lnTo>
                  <a:lnTo>
                    <a:pt x="336204" y="87942"/>
                  </a:lnTo>
                  <a:lnTo>
                    <a:pt x="308940" y="53009"/>
                  </a:lnTo>
                  <a:lnTo>
                    <a:pt x="274007" y="25745"/>
                  </a:lnTo>
                  <a:lnTo>
                    <a:pt x="233511" y="7791"/>
                  </a:lnTo>
                  <a:lnTo>
                    <a:pt x="189868" y="216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00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33475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180975"/>
                  </a:moveTo>
                  <a:lnTo>
                    <a:pt x="356525" y="224960"/>
                  </a:lnTo>
                  <a:lnTo>
                    <a:pt x="340579" y="266288"/>
                  </a:lnTo>
                  <a:lnTo>
                    <a:pt x="315076" y="302498"/>
                  </a:lnTo>
                  <a:lnTo>
                    <a:pt x="281520" y="331444"/>
                  </a:lnTo>
                  <a:lnTo>
                    <a:pt x="241934" y="351372"/>
                  </a:lnTo>
                  <a:lnTo>
                    <a:pt x="198718" y="361081"/>
                  </a:lnTo>
                  <a:lnTo>
                    <a:pt x="180975" y="361950"/>
                  </a:lnTo>
                  <a:lnTo>
                    <a:pt x="172083" y="361733"/>
                  </a:lnTo>
                  <a:lnTo>
                    <a:pt x="128440" y="354158"/>
                  </a:lnTo>
                  <a:lnTo>
                    <a:pt x="87943" y="336204"/>
                  </a:lnTo>
                  <a:lnTo>
                    <a:pt x="53007" y="308940"/>
                  </a:lnTo>
                  <a:lnTo>
                    <a:pt x="25740" y="274007"/>
                  </a:lnTo>
                  <a:lnTo>
                    <a:pt x="7790" y="233511"/>
                  </a:lnTo>
                  <a:lnTo>
                    <a:pt x="217" y="189866"/>
                  </a:lnTo>
                  <a:lnTo>
                    <a:pt x="0" y="180975"/>
                  </a:lnTo>
                  <a:lnTo>
                    <a:pt x="217" y="172081"/>
                  </a:lnTo>
                  <a:lnTo>
                    <a:pt x="7790" y="128438"/>
                  </a:lnTo>
                  <a:lnTo>
                    <a:pt x="25740" y="87942"/>
                  </a:lnTo>
                  <a:lnTo>
                    <a:pt x="53007" y="53009"/>
                  </a:lnTo>
                  <a:lnTo>
                    <a:pt x="87943" y="25745"/>
                  </a:lnTo>
                  <a:lnTo>
                    <a:pt x="128440" y="7791"/>
                  </a:lnTo>
                  <a:lnTo>
                    <a:pt x="172083" y="216"/>
                  </a:lnTo>
                  <a:lnTo>
                    <a:pt x="180975" y="0"/>
                  </a:lnTo>
                  <a:lnTo>
                    <a:pt x="189868" y="216"/>
                  </a:lnTo>
                  <a:lnTo>
                    <a:pt x="233511" y="7791"/>
                  </a:lnTo>
                  <a:lnTo>
                    <a:pt x="274007" y="25745"/>
                  </a:lnTo>
                  <a:lnTo>
                    <a:pt x="308940" y="53009"/>
                  </a:lnTo>
                  <a:lnTo>
                    <a:pt x="336204" y="87942"/>
                  </a:lnTo>
                  <a:lnTo>
                    <a:pt x="354158" y="128438"/>
                  </a:lnTo>
                  <a:lnTo>
                    <a:pt x="361733" y="172081"/>
                  </a:lnTo>
                  <a:lnTo>
                    <a:pt x="361950" y="180975"/>
                  </a:lnTo>
                  <a:close/>
                </a:path>
              </a:pathLst>
            </a:custGeom>
            <a:ln w="19050">
              <a:solidFill>
                <a:srgbClr val="00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30312" y="1746215"/>
            <a:ext cx="1574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A1224"/>
                </a:solidFill>
                <a:latin typeface="Times New Roman"/>
                <a:cs typeface="Times New Roman"/>
              </a:rPr>
              <a:t>01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887" y="2137355"/>
            <a:ext cx="1634489" cy="406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95">
                <a:solidFill>
                  <a:srgbClr val="F4F4F6"/>
                </a:solidFill>
                <a:latin typeface="Times New Roman"/>
                <a:cs typeface="Times New Roman"/>
              </a:rPr>
              <a:t>Patient</a:t>
            </a:r>
            <a:r>
              <a:rPr dirty="0" sz="1000" spc="6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F4F4F6"/>
                </a:solidFill>
                <a:latin typeface="Times New Roman"/>
                <a:cs typeface="Times New Roman"/>
              </a:rPr>
              <a:t>Emergency</a:t>
            </a:r>
            <a:r>
              <a:rPr dirty="0" sz="1000" spc="3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r>
              <a:rPr dirty="0" sz="1000" spc="-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F4F4F6"/>
                </a:solidFill>
                <a:latin typeface="Times New Roman"/>
                <a:cs typeface="Times New Roman"/>
              </a:rPr>
              <a:t>GPS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55">
                <a:solidFill>
                  <a:srgbClr val="F4F4F6"/>
                </a:solidFill>
                <a:latin typeface="Times New Roman"/>
                <a:cs typeface="Times New Roman"/>
              </a:rPr>
              <a:t>Location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14725" y="1638300"/>
            <a:ext cx="381000" cy="381000"/>
            <a:chOff x="3514725" y="1638300"/>
            <a:chExt cx="381000" cy="381000"/>
          </a:xfrm>
        </p:grpSpPr>
        <p:sp>
          <p:nvSpPr>
            <p:cNvPr id="14" name="object 14"/>
            <p:cNvSpPr/>
            <p:nvPr/>
          </p:nvSpPr>
          <p:spPr>
            <a:xfrm>
              <a:off x="3524250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0"/>
                  </a:moveTo>
                  <a:lnTo>
                    <a:pt x="136989" y="5424"/>
                  </a:lnTo>
                  <a:lnTo>
                    <a:pt x="95661" y="21370"/>
                  </a:lnTo>
                  <a:lnTo>
                    <a:pt x="59446" y="46873"/>
                  </a:lnTo>
                  <a:lnTo>
                    <a:pt x="30505" y="80429"/>
                  </a:lnTo>
                  <a:lnTo>
                    <a:pt x="10577" y="120015"/>
                  </a:lnTo>
                  <a:lnTo>
                    <a:pt x="868" y="163231"/>
                  </a:lnTo>
                  <a:lnTo>
                    <a:pt x="0" y="180975"/>
                  </a:lnTo>
                  <a:lnTo>
                    <a:pt x="216" y="189866"/>
                  </a:lnTo>
                  <a:lnTo>
                    <a:pt x="7791" y="233511"/>
                  </a:lnTo>
                  <a:lnTo>
                    <a:pt x="25745" y="274007"/>
                  </a:lnTo>
                  <a:lnTo>
                    <a:pt x="53009" y="308940"/>
                  </a:lnTo>
                  <a:lnTo>
                    <a:pt x="87942" y="336204"/>
                  </a:lnTo>
                  <a:lnTo>
                    <a:pt x="128438" y="354158"/>
                  </a:lnTo>
                  <a:lnTo>
                    <a:pt x="172083" y="361733"/>
                  </a:lnTo>
                  <a:lnTo>
                    <a:pt x="180975" y="361950"/>
                  </a:lnTo>
                  <a:lnTo>
                    <a:pt x="189868" y="361733"/>
                  </a:lnTo>
                  <a:lnTo>
                    <a:pt x="233511" y="354158"/>
                  </a:lnTo>
                  <a:lnTo>
                    <a:pt x="274007" y="336204"/>
                  </a:lnTo>
                  <a:lnTo>
                    <a:pt x="308940" y="308940"/>
                  </a:lnTo>
                  <a:lnTo>
                    <a:pt x="336204" y="274007"/>
                  </a:lnTo>
                  <a:lnTo>
                    <a:pt x="354158" y="233511"/>
                  </a:lnTo>
                  <a:lnTo>
                    <a:pt x="361733" y="189866"/>
                  </a:lnTo>
                  <a:lnTo>
                    <a:pt x="361950" y="180975"/>
                  </a:lnTo>
                  <a:lnTo>
                    <a:pt x="361733" y="172081"/>
                  </a:lnTo>
                  <a:lnTo>
                    <a:pt x="354158" y="128438"/>
                  </a:lnTo>
                  <a:lnTo>
                    <a:pt x="336204" y="87942"/>
                  </a:lnTo>
                  <a:lnTo>
                    <a:pt x="308940" y="53009"/>
                  </a:lnTo>
                  <a:lnTo>
                    <a:pt x="274007" y="25745"/>
                  </a:lnTo>
                  <a:lnTo>
                    <a:pt x="233511" y="7791"/>
                  </a:lnTo>
                  <a:lnTo>
                    <a:pt x="189868" y="216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00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24250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180975"/>
                  </a:moveTo>
                  <a:lnTo>
                    <a:pt x="356525" y="224960"/>
                  </a:lnTo>
                  <a:lnTo>
                    <a:pt x="340579" y="266288"/>
                  </a:lnTo>
                  <a:lnTo>
                    <a:pt x="315076" y="302498"/>
                  </a:lnTo>
                  <a:lnTo>
                    <a:pt x="281520" y="331444"/>
                  </a:lnTo>
                  <a:lnTo>
                    <a:pt x="241934" y="351372"/>
                  </a:lnTo>
                  <a:lnTo>
                    <a:pt x="198718" y="361081"/>
                  </a:lnTo>
                  <a:lnTo>
                    <a:pt x="180975" y="361950"/>
                  </a:lnTo>
                  <a:lnTo>
                    <a:pt x="172083" y="361733"/>
                  </a:lnTo>
                  <a:lnTo>
                    <a:pt x="128438" y="354158"/>
                  </a:lnTo>
                  <a:lnTo>
                    <a:pt x="87942" y="336204"/>
                  </a:lnTo>
                  <a:lnTo>
                    <a:pt x="53009" y="308940"/>
                  </a:lnTo>
                  <a:lnTo>
                    <a:pt x="25745" y="274007"/>
                  </a:lnTo>
                  <a:lnTo>
                    <a:pt x="7791" y="233511"/>
                  </a:lnTo>
                  <a:lnTo>
                    <a:pt x="216" y="189866"/>
                  </a:lnTo>
                  <a:lnTo>
                    <a:pt x="0" y="180975"/>
                  </a:lnTo>
                  <a:lnTo>
                    <a:pt x="216" y="172081"/>
                  </a:lnTo>
                  <a:lnTo>
                    <a:pt x="7791" y="128438"/>
                  </a:lnTo>
                  <a:lnTo>
                    <a:pt x="25745" y="87942"/>
                  </a:lnTo>
                  <a:lnTo>
                    <a:pt x="53009" y="53009"/>
                  </a:lnTo>
                  <a:lnTo>
                    <a:pt x="87942" y="25745"/>
                  </a:lnTo>
                  <a:lnTo>
                    <a:pt x="128438" y="7791"/>
                  </a:lnTo>
                  <a:lnTo>
                    <a:pt x="172083" y="216"/>
                  </a:lnTo>
                  <a:lnTo>
                    <a:pt x="180975" y="0"/>
                  </a:lnTo>
                  <a:lnTo>
                    <a:pt x="189868" y="216"/>
                  </a:lnTo>
                  <a:lnTo>
                    <a:pt x="233511" y="7791"/>
                  </a:lnTo>
                  <a:lnTo>
                    <a:pt x="274007" y="25745"/>
                  </a:lnTo>
                  <a:lnTo>
                    <a:pt x="308940" y="53009"/>
                  </a:lnTo>
                  <a:lnTo>
                    <a:pt x="336204" y="87942"/>
                  </a:lnTo>
                  <a:lnTo>
                    <a:pt x="354158" y="128438"/>
                  </a:lnTo>
                  <a:lnTo>
                    <a:pt x="361733" y="172081"/>
                  </a:lnTo>
                  <a:lnTo>
                    <a:pt x="361950" y="180975"/>
                  </a:lnTo>
                  <a:close/>
                </a:path>
              </a:pathLst>
            </a:custGeom>
            <a:ln w="19050">
              <a:solidFill>
                <a:srgbClr val="00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606800" y="1746215"/>
            <a:ext cx="1892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14">
                <a:solidFill>
                  <a:srgbClr val="0A1224"/>
                </a:solidFill>
                <a:latin typeface="Times New Roman"/>
                <a:cs typeface="Times New Roman"/>
              </a:rPr>
              <a:t>02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59087" y="2171971"/>
            <a:ext cx="1689735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20">
                <a:solidFill>
                  <a:srgbClr val="F4F4F6"/>
                </a:solidFill>
                <a:latin typeface="Times New Roman"/>
                <a:cs typeface="Times New Roman"/>
              </a:rPr>
              <a:t>AI</a:t>
            </a:r>
            <a:r>
              <a:rPr dirty="0" sz="1000" spc="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F4F4F6"/>
                </a:solidFill>
                <a:latin typeface="Times New Roman"/>
                <a:cs typeface="Times New Roman"/>
              </a:rPr>
              <a:t>Emergency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F4F4F6"/>
                </a:solidFill>
                <a:latin typeface="Times New Roman"/>
                <a:cs typeface="Times New Roman"/>
              </a:rPr>
              <a:t>Assessment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05500" y="1638300"/>
            <a:ext cx="381000" cy="381000"/>
            <a:chOff x="5905500" y="1638300"/>
            <a:chExt cx="381000" cy="381000"/>
          </a:xfrm>
        </p:grpSpPr>
        <p:sp>
          <p:nvSpPr>
            <p:cNvPr id="19" name="object 19"/>
            <p:cNvSpPr/>
            <p:nvPr/>
          </p:nvSpPr>
          <p:spPr>
            <a:xfrm>
              <a:off x="5915025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0"/>
                  </a:moveTo>
                  <a:lnTo>
                    <a:pt x="136989" y="5424"/>
                  </a:lnTo>
                  <a:lnTo>
                    <a:pt x="95661" y="21370"/>
                  </a:lnTo>
                  <a:lnTo>
                    <a:pt x="59446" y="46873"/>
                  </a:lnTo>
                  <a:lnTo>
                    <a:pt x="30505" y="80429"/>
                  </a:lnTo>
                  <a:lnTo>
                    <a:pt x="10577" y="120015"/>
                  </a:lnTo>
                  <a:lnTo>
                    <a:pt x="868" y="163231"/>
                  </a:lnTo>
                  <a:lnTo>
                    <a:pt x="0" y="180975"/>
                  </a:lnTo>
                  <a:lnTo>
                    <a:pt x="216" y="189866"/>
                  </a:lnTo>
                  <a:lnTo>
                    <a:pt x="7791" y="233511"/>
                  </a:lnTo>
                  <a:lnTo>
                    <a:pt x="25745" y="274007"/>
                  </a:lnTo>
                  <a:lnTo>
                    <a:pt x="53009" y="308940"/>
                  </a:lnTo>
                  <a:lnTo>
                    <a:pt x="87942" y="336204"/>
                  </a:lnTo>
                  <a:lnTo>
                    <a:pt x="128438" y="354158"/>
                  </a:lnTo>
                  <a:lnTo>
                    <a:pt x="172083" y="361733"/>
                  </a:lnTo>
                  <a:lnTo>
                    <a:pt x="180975" y="361950"/>
                  </a:lnTo>
                  <a:lnTo>
                    <a:pt x="189868" y="361733"/>
                  </a:lnTo>
                  <a:lnTo>
                    <a:pt x="233511" y="354158"/>
                  </a:lnTo>
                  <a:lnTo>
                    <a:pt x="274007" y="336204"/>
                  </a:lnTo>
                  <a:lnTo>
                    <a:pt x="308940" y="308940"/>
                  </a:lnTo>
                  <a:lnTo>
                    <a:pt x="336204" y="274007"/>
                  </a:lnTo>
                  <a:lnTo>
                    <a:pt x="354158" y="233511"/>
                  </a:lnTo>
                  <a:lnTo>
                    <a:pt x="361733" y="189866"/>
                  </a:lnTo>
                  <a:lnTo>
                    <a:pt x="361950" y="180975"/>
                  </a:lnTo>
                  <a:lnTo>
                    <a:pt x="361733" y="172081"/>
                  </a:lnTo>
                  <a:lnTo>
                    <a:pt x="354158" y="128438"/>
                  </a:lnTo>
                  <a:lnTo>
                    <a:pt x="336204" y="87942"/>
                  </a:lnTo>
                  <a:lnTo>
                    <a:pt x="308940" y="53009"/>
                  </a:lnTo>
                  <a:lnTo>
                    <a:pt x="274007" y="25745"/>
                  </a:lnTo>
                  <a:lnTo>
                    <a:pt x="233511" y="7791"/>
                  </a:lnTo>
                  <a:lnTo>
                    <a:pt x="189868" y="216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00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915025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180975"/>
                  </a:moveTo>
                  <a:lnTo>
                    <a:pt x="356525" y="224960"/>
                  </a:lnTo>
                  <a:lnTo>
                    <a:pt x="340579" y="266288"/>
                  </a:lnTo>
                  <a:lnTo>
                    <a:pt x="315076" y="302498"/>
                  </a:lnTo>
                  <a:lnTo>
                    <a:pt x="281520" y="331444"/>
                  </a:lnTo>
                  <a:lnTo>
                    <a:pt x="241934" y="351372"/>
                  </a:lnTo>
                  <a:lnTo>
                    <a:pt x="198718" y="361081"/>
                  </a:lnTo>
                  <a:lnTo>
                    <a:pt x="180975" y="361950"/>
                  </a:lnTo>
                  <a:lnTo>
                    <a:pt x="172083" y="361733"/>
                  </a:lnTo>
                  <a:lnTo>
                    <a:pt x="128438" y="354158"/>
                  </a:lnTo>
                  <a:lnTo>
                    <a:pt x="87942" y="336204"/>
                  </a:lnTo>
                  <a:lnTo>
                    <a:pt x="53009" y="308940"/>
                  </a:lnTo>
                  <a:lnTo>
                    <a:pt x="25745" y="274007"/>
                  </a:lnTo>
                  <a:lnTo>
                    <a:pt x="7791" y="233511"/>
                  </a:lnTo>
                  <a:lnTo>
                    <a:pt x="216" y="189866"/>
                  </a:lnTo>
                  <a:lnTo>
                    <a:pt x="0" y="180975"/>
                  </a:lnTo>
                  <a:lnTo>
                    <a:pt x="216" y="172081"/>
                  </a:lnTo>
                  <a:lnTo>
                    <a:pt x="7791" y="128438"/>
                  </a:lnTo>
                  <a:lnTo>
                    <a:pt x="25745" y="87942"/>
                  </a:lnTo>
                  <a:lnTo>
                    <a:pt x="53009" y="53009"/>
                  </a:lnTo>
                  <a:lnTo>
                    <a:pt x="87942" y="25745"/>
                  </a:lnTo>
                  <a:lnTo>
                    <a:pt x="128438" y="7791"/>
                  </a:lnTo>
                  <a:lnTo>
                    <a:pt x="172083" y="216"/>
                  </a:lnTo>
                  <a:lnTo>
                    <a:pt x="180975" y="0"/>
                  </a:lnTo>
                  <a:lnTo>
                    <a:pt x="189868" y="216"/>
                  </a:lnTo>
                  <a:lnTo>
                    <a:pt x="233511" y="7791"/>
                  </a:lnTo>
                  <a:lnTo>
                    <a:pt x="274007" y="25745"/>
                  </a:lnTo>
                  <a:lnTo>
                    <a:pt x="308940" y="53009"/>
                  </a:lnTo>
                  <a:lnTo>
                    <a:pt x="336204" y="87942"/>
                  </a:lnTo>
                  <a:lnTo>
                    <a:pt x="354158" y="128438"/>
                  </a:lnTo>
                  <a:lnTo>
                    <a:pt x="361733" y="172081"/>
                  </a:lnTo>
                  <a:lnTo>
                    <a:pt x="361950" y="180975"/>
                  </a:lnTo>
                  <a:close/>
                </a:path>
              </a:pathLst>
            </a:custGeom>
            <a:ln w="19050">
              <a:solidFill>
                <a:srgbClr val="00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997575" y="1746215"/>
            <a:ext cx="192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25">
                <a:solidFill>
                  <a:srgbClr val="0A1224"/>
                </a:solidFill>
                <a:latin typeface="Times New Roman"/>
                <a:cs typeface="Times New Roman"/>
              </a:rPr>
              <a:t>03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7500" y="2137355"/>
            <a:ext cx="1399540" cy="406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80">
                <a:solidFill>
                  <a:srgbClr val="F4F4F6"/>
                </a:solidFill>
                <a:latin typeface="Times New Roman"/>
                <a:cs typeface="Times New Roman"/>
              </a:rPr>
              <a:t>Resource</a:t>
            </a:r>
            <a:r>
              <a:rPr dirty="0" sz="1000" spc="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F4F4F6"/>
                </a:solidFill>
                <a:latin typeface="Times New Roman"/>
                <a:cs typeface="Times New Roman"/>
              </a:rPr>
              <a:t>Capability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55">
                <a:solidFill>
                  <a:srgbClr val="F4F4F6"/>
                </a:solidFill>
                <a:latin typeface="Times New Roman"/>
                <a:cs typeface="Times New Roman"/>
              </a:rPr>
              <a:t>Analysis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96275" y="1638300"/>
            <a:ext cx="381000" cy="381000"/>
            <a:chOff x="8296275" y="1638300"/>
            <a:chExt cx="381000" cy="381000"/>
          </a:xfrm>
        </p:grpSpPr>
        <p:sp>
          <p:nvSpPr>
            <p:cNvPr id="24" name="object 24"/>
            <p:cNvSpPr/>
            <p:nvPr/>
          </p:nvSpPr>
          <p:spPr>
            <a:xfrm>
              <a:off x="8305800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0"/>
                  </a:moveTo>
                  <a:lnTo>
                    <a:pt x="136989" y="5424"/>
                  </a:lnTo>
                  <a:lnTo>
                    <a:pt x="95661" y="21370"/>
                  </a:lnTo>
                  <a:lnTo>
                    <a:pt x="59446" y="46873"/>
                  </a:lnTo>
                  <a:lnTo>
                    <a:pt x="30505" y="80429"/>
                  </a:lnTo>
                  <a:lnTo>
                    <a:pt x="10577" y="120015"/>
                  </a:lnTo>
                  <a:lnTo>
                    <a:pt x="868" y="163231"/>
                  </a:lnTo>
                  <a:lnTo>
                    <a:pt x="0" y="180975"/>
                  </a:lnTo>
                  <a:lnTo>
                    <a:pt x="216" y="189866"/>
                  </a:lnTo>
                  <a:lnTo>
                    <a:pt x="7791" y="233511"/>
                  </a:lnTo>
                  <a:lnTo>
                    <a:pt x="25745" y="274007"/>
                  </a:lnTo>
                  <a:lnTo>
                    <a:pt x="53009" y="308940"/>
                  </a:lnTo>
                  <a:lnTo>
                    <a:pt x="87942" y="336204"/>
                  </a:lnTo>
                  <a:lnTo>
                    <a:pt x="128438" y="354158"/>
                  </a:lnTo>
                  <a:lnTo>
                    <a:pt x="172083" y="361733"/>
                  </a:lnTo>
                  <a:lnTo>
                    <a:pt x="180975" y="361950"/>
                  </a:lnTo>
                  <a:lnTo>
                    <a:pt x="189866" y="361733"/>
                  </a:lnTo>
                  <a:lnTo>
                    <a:pt x="233511" y="354158"/>
                  </a:lnTo>
                  <a:lnTo>
                    <a:pt x="274007" y="336204"/>
                  </a:lnTo>
                  <a:lnTo>
                    <a:pt x="308940" y="308940"/>
                  </a:lnTo>
                  <a:lnTo>
                    <a:pt x="336204" y="274007"/>
                  </a:lnTo>
                  <a:lnTo>
                    <a:pt x="354153" y="233511"/>
                  </a:lnTo>
                  <a:lnTo>
                    <a:pt x="361733" y="189866"/>
                  </a:lnTo>
                  <a:lnTo>
                    <a:pt x="361950" y="180975"/>
                  </a:lnTo>
                  <a:lnTo>
                    <a:pt x="361733" y="172081"/>
                  </a:lnTo>
                  <a:lnTo>
                    <a:pt x="354153" y="128438"/>
                  </a:lnTo>
                  <a:lnTo>
                    <a:pt x="336204" y="87942"/>
                  </a:lnTo>
                  <a:lnTo>
                    <a:pt x="308940" y="53009"/>
                  </a:lnTo>
                  <a:lnTo>
                    <a:pt x="274007" y="25745"/>
                  </a:lnTo>
                  <a:lnTo>
                    <a:pt x="233511" y="7791"/>
                  </a:lnTo>
                  <a:lnTo>
                    <a:pt x="189866" y="216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00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05800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180975"/>
                  </a:moveTo>
                  <a:lnTo>
                    <a:pt x="356519" y="224960"/>
                  </a:lnTo>
                  <a:lnTo>
                    <a:pt x="340579" y="266288"/>
                  </a:lnTo>
                  <a:lnTo>
                    <a:pt x="315076" y="302498"/>
                  </a:lnTo>
                  <a:lnTo>
                    <a:pt x="281520" y="331444"/>
                  </a:lnTo>
                  <a:lnTo>
                    <a:pt x="241934" y="351372"/>
                  </a:lnTo>
                  <a:lnTo>
                    <a:pt x="198713" y="361081"/>
                  </a:lnTo>
                  <a:lnTo>
                    <a:pt x="180975" y="361950"/>
                  </a:lnTo>
                  <a:lnTo>
                    <a:pt x="172083" y="361733"/>
                  </a:lnTo>
                  <a:lnTo>
                    <a:pt x="128438" y="354158"/>
                  </a:lnTo>
                  <a:lnTo>
                    <a:pt x="87942" y="336204"/>
                  </a:lnTo>
                  <a:lnTo>
                    <a:pt x="53009" y="308940"/>
                  </a:lnTo>
                  <a:lnTo>
                    <a:pt x="25745" y="274007"/>
                  </a:lnTo>
                  <a:lnTo>
                    <a:pt x="7791" y="233511"/>
                  </a:lnTo>
                  <a:lnTo>
                    <a:pt x="216" y="189866"/>
                  </a:lnTo>
                  <a:lnTo>
                    <a:pt x="0" y="180975"/>
                  </a:lnTo>
                  <a:lnTo>
                    <a:pt x="216" y="172081"/>
                  </a:lnTo>
                  <a:lnTo>
                    <a:pt x="7791" y="128438"/>
                  </a:lnTo>
                  <a:lnTo>
                    <a:pt x="25745" y="87942"/>
                  </a:lnTo>
                  <a:lnTo>
                    <a:pt x="53009" y="53009"/>
                  </a:lnTo>
                  <a:lnTo>
                    <a:pt x="87942" y="25745"/>
                  </a:lnTo>
                  <a:lnTo>
                    <a:pt x="128438" y="7791"/>
                  </a:lnTo>
                  <a:lnTo>
                    <a:pt x="172083" y="216"/>
                  </a:lnTo>
                  <a:lnTo>
                    <a:pt x="180975" y="0"/>
                  </a:lnTo>
                  <a:lnTo>
                    <a:pt x="189866" y="216"/>
                  </a:lnTo>
                  <a:lnTo>
                    <a:pt x="233511" y="7791"/>
                  </a:lnTo>
                  <a:lnTo>
                    <a:pt x="274007" y="25745"/>
                  </a:lnTo>
                  <a:lnTo>
                    <a:pt x="308940" y="53009"/>
                  </a:lnTo>
                  <a:lnTo>
                    <a:pt x="336204" y="87942"/>
                  </a:lnTo>
                  <a:lnTo>
                    <a:pt x="354153" y="128438"/>
                  </a:lnTo>
                  <a:lnTo>
                    <a:pt x="361733" y="172081"/>
                  </a:lnTo>
                  <a:lnTo>
                    <a:pt x="361950" y="180975"/>
                  </a:lnTo>
                  <a:close/>
                </a:path>
              </a:pathLst>
            </a:custGeom>
            <a:ln w="19050">
              <a:solidFill>
                <a:srgbClr val="00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388350" y="1746215"/>
            <a:ext cx="1968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45">
                <a:solidFill>
                  <a:srgbClr val="0A1224"/>
                </a:solidFill>
                <a:latin typeface="Times New Roman"/>
                <a:cs typeface="Times New Roman"/>
              </a:rPr>
              <a:t>04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02562" y="2137355"/>
            <a:ext cx="1374775" cy="406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-20">
                <a:solidFill>
                  <a:srgbClr val="F4F4F6"/>
                </a:solidFill>
                <a:latin typeface="Times New Roman"/>
                <a:cs typeface="Times New Roman"/>
              </a:rPr>
              <a:t>AI</a:t>
            </a:r>
            <a:r>
              <a:rPr dirty="0" sz="1000" spc="10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000" spc="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F4F4F6"/>
                </a:solidFill>
                <a:latin typeface="Times New Roman"/>
                <a:cs typeface="Times New Roman"/>
              </a:rPr>
              <a:t>Ranking</a:t>
            </a:r>
            <a:r>
              <a:rPr dirty="0" sz="1000" spc="7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65">
                <a:solidFill>
                  <a:srgbClr val="F4F4F6"/>
                </a:solidFill>
                <a:latin typeface="Times New Roman"/>
                <a:cs typeface="Times New Roman"/>
              </a:rPr>
              <a:t>Selection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687050" y="1638300"/>
            <a:ext cx="381000" cy="381000"/>
            <a:chOff x="10687050" y="1638300"/>
            <a:chExt cx="381000" cy="381000"/>
          </a:xfrm>
        </p:grpSpPr>
        <p:sp>
          <p:nvSpPr>
            <p:cNvPr id="29" name="object 29"/>
            <p:cNvSpPr/>
            <p:nvPr/>
          </p:nvSpPr>
          <p:spPr>
            <a:xfrm>
              <a:off x="10696575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0"/>
                  </a:moveTo>
                  <a:lnTo>
                    <a:pt x="136989" y="5424"/>
                  </a:lnTo>
                  <a:lnTo>
                    <a:pt x="95659" y="21370"/>
                  </a:lnTo>
                  <a:lnTo>
                    <a:pt x="59440" y="46873"/>
                  </a:lnTo>
                  <a:lnTo>
                    <a:pt x="30505" y="80429"/>
                  </a:lnTo>
                  <a:lnTo>
                    <a:pt x="10577" y="120015"/>
                  </a:lnTo>
                  <a:lnTo>
                    <a:pt x="868" y="163231"/>
                  </a:lnTo>
                  <a:lnTo>
                    <a:pt x="0" y="180975"/>
                  </a:lnTo>
                  <a:lnTo>
                    <a:pt x="216" y="189866"/>
                  </a:lnTo>
                  <a:lnTo>
                    <a:pt x="7791" y="233511"/>
                  </a:lnTo>
                  <a:lnTo>
                    <a:pt x="25745" y="274007"/>
                  </a:lnTo>
                  <a:lnTo>
                    <a:pt x="52997" y="308940"/>
                  </a:lnTo>
                  <a:lnTo>
                    <a:pt x="87941" y="336204"/>
                  </a:lnTo>
                  <a:lnTo>
                    <a:pt x="128436" y="354158"/>
                  </a:lnTo>
                  <a:lnTo>
                    <a:pt x="172083" y="361733"/>
                  </a:lnTo>
                  <a:lnTo>
                    <a:pt x="180975" y="361950"/>
                  </a:lnTo>
                  <a:lnTo>
                    <a:pt x="189866" y="361733"/>
                  </a:lnTo>
                  <a:lnTo>
                    <a:pt x="233511" y="354158"/>
                  </a:lnTo>
                  <a:lnTo>
                    <a:pt x="274007" y="336204"/>
                  </a:lnTo>
                  <a:lnTo>
                    <a:pt x="308940" y="308940"/>
                  </a:lnTo>
                  <a:lnTo>
                    <a:pt x="336204" y="274007"/>
                  </a:lnTo>
                  <a:lnTo>
                    <a:pt x="354153" y="233511"/>
                  </a:lnTo>
                  <a:lnTo>
                    <a:pt x="361733" y="189866"/>
                  </a:lnTo>
                  <a:lnTo>
                    <a:pt x="361950" y="180975"/>
                  </a:lnTo>
                  <a:lnTo>
                    <a:pt x="361733" y="172081"/>
                  </a:lnTo>
                  <a:lnTo>
                    <a:pt x="354153" y="128438"/>
                  </a:lnTo>
                  <a:lnTo>
                    <a:pt x="336204" y="87942"/>
                  </a:lnTo>
                  <a:lnTo>
                    <a:pt x="308940" y="53009"/>
                  </a:lnTo>
                  <a:lnTo>
                    <a:pt x="274007" y="25745"/>
                  </a:lnTo>
                  <a:lnTo>
                    <a:pt x="233511" y="7791"/>
                  </a:lnTo>
                  <a:lnTo>
                    <a:pt x="189866" y="216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00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696575" y="1647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180975"/>
                  </a:moveTo>
                  <a:lnTo>
                    <a:pt x="356519" y="224960"/>
                  </a:lnTo>
                  <a:lnTo>
                    <a:pt x="340579" y="266288"/>
                  </a:lnTo>
                  <a:lnTo>
                    <a:pt x="315076" y="302498"/>
                  </a:lnTo>
                  <a:lnTo>
                    <a:pt x="281520" y="331444"/>
                  </a:lnTo>
                  <a:lnTo>
                    <a:pt x="241934" y="351372"/>
                  </a:lnTo>
                  <a:lnTo>
                    <a:pt x="198713" y="361081"/>
                  </a:lnTo>
                  <a:lnTo>
                    <a:pt x="180975" y="361950"/>
                  </a:lnTo>
                  <a:lnTo>
                    <a:pt x="172083" y="361733"/>
                  </a:lnTo>
                  <a:lnTo>
                    <a:pt x="128436" y="354158"/>
                  </a:lnTo>
                  <a:lnTo>
                    <a:pt x="87941" y="336204"/>
                  </a:lnTo>
                  <a:lnTo>
                    <a:pt x="52997" y="308940"/>
                  </a:lnTo>
                  <a:lnTo>
                    <a:pt x="25745" y="274007"/>
                  </a:lnTo>
                  <a:lnTo>
                    <a:pt x="7791" y="233511"/>
                  </a:lnTo>
                  <a:lnTo>
                    <a:pt x="216" y="189866"/>
                  </a:lnTo>
                  <a:lnTo>
                    <a:pt x="0" y="180975"/>
                  </a:lnTo>
                  <a:lnTo>
                    <a:pt x="216" y="172081"/>
                  </a:lnTo>
                  <a:lnTo>
                    <a:pt x="7791" y="128438"/>
                  </a:lnTo>
                  <a:lnTo>
                    <a:pt x="25745" y="87942"/>
                  </a:lnTo>
                  <a:lnTo>
                    <a:pt x="52997" y="53009"/>
                  </a:lnTo>
                  <a:lnTo>
                    <a:pt x="87941" y="25745"/>
                  </a:lnTo>
                  <a:lnTo>
                    <a:pt x="128436" y="7791"/>
                  </a:lnTo>
                  <a:lnTo>
                    <a:pt x="172083" y="216"/>
                  </a:lnTo>
                  <a:lnTo>
                    <a:pt x="180975" y="0"/>
                  </a:lnTo>
                  <a:lnTo>
                    <a:pt x="189866" y="216"/>
                  </a:lnTo>
                  <a:lnTo>
                    <a:pt x="233511" y="7791"/>
                  </a:lnTo>
                  <a:lnTo>
                    <a:pt x="274007" y="25745"/>
                  </a:lnTo>
                  <a:lnTo>
                    <a:pt x="308940" y="53009"/>
                  </a:lnTo>
                  <a:lnTo>
                    <a:pt x="336204" y="87942"/>
                  </a:lnTo>
                  <a:lnTo>
                    <a:pt x="354153" y="128438"/>
                  </a:lnTo>
                  <a:lnTo>
                    <a:pt x="361733" y="172081"/>
                  </a:lnTo>
                  <a:lnTo>
                    <a:pt x="361950" y="180975"/>
                  </a:lnTo>
                  <a:close/>
                </a:path>
              </a:pathLst>
            </a:custGeom>
            <a:ln w="19050">
              <a:solidFill>
                <a:srgbClr val="00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0783887" y="1746215"/>
            <a:ext cx="1885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10">
                <a:solidFill>
                  <a:srgbClr val="0A1224"/>
                </a:solidFill>
                <a:latin typeface="Times New Roman"/>
                <a:cs typeface="Times New Roman"/>
              </a:rPr>
              <a:t>05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45700" y="2137355"/>
            <a:ext cx="1661160" cy="406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65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000" spc="8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F4F4F6"/>
                </a:solidFill>
                <a:latin typeface="Times New Roman"/>
                <a:cs typeface="Times New Roman"/>
              </a:rPr>
              <a:t>Prepares</a:t>
            </a:r>
            <a:r>
              <a:rPr dirty="0" sz="1000" spc="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F4F4F6"/>
                </a:solidFill>
                <a:latin typeface="Times New Roman"/>
                <a:cs typeface="Times New Roman"/>
              </a:rPr>
              <a:t>Smart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65">
                <a:solidFill>
                  <a:srgbClr val="F4F4F6"/>
                </a:solidFill>
                <a:latin typeface="Times New Roman"/>
                <a:cs typeface="Times New Roman"/>
              </a:rPr>
              <a:t>Routing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dirty="0" spc="-25"/>
              <a:t> </a:t>
            </a:r>
            <a:r>
              <a:rPr dirty="0" spc="-20"/>
              <a:t>understands</a:t>
            </a:r>
            <a:r>
              <a:rPr dirty="0" spc="-10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emergency.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962" y="1452562"/>
            <a:ext cx="5715000" cy="4943475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PATI</a:t>
            </a:r>
            <a:r>
              <a:rPr dirty="0" sz="1000" spc="-4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EN</a:t>
            </a:r>
            <a:r>
              <a:rPr dirty="0" sz="1000" spc="-7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9FA9BE"/>
                </a:solidFill>
                <a:latin typeface="Times New Roman"/>
                <a:cs typeface="Times New Roman"/>
              </a:rPr>
              <a:t>T</a:t>
            </a:r>
            <a:r>
              <a:rPr dirty="0" sz="1000" spc="28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05">
                <a:solidFill>
                  <a:srgbClr val="9FA9BE"/>
                </a:solidFill>
                <a:latin typeface="Times New Roman"/>
                <a:cs typeface="Times New Roman"/>
              </a:rPr>
              <a:t>PROFI</a:t>
            </a:r>
            <a:r>
              <a:rPr dirty="0" sz="1000" spc="-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9FA9BE"/>
                </a:solidFill>
                <a:latin typeface="Times New Roman"/>
                <a:cs typeface="Times New Roman"/>
              </a:rPr>
              <a:t>LE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700" spc="260">
                <a:solidFill>
                  <a:srgbClr val="F4F4F6"/>
                </a:solidFill>
                <a:latin typeface="Times New Roman"/>
                <a:cs typeface="Times New Roman"/>
              </a:rPr>
              <a:t>45</a:t>
            </a:r>
            <a:r>
              <a:rPr dirty="0" sz="1700" spc="10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50" spc="114">
                <a:solidFill>
                  <a:srgbClr val="F4F4F6"/>
                </a:solidFill>
                <a:latin typeface="Times New Roman"/>
                <a:cs typeface="Times New Roman"/>
              </a:rPr>
              <a:t>Years</a:t>
            </a:r>
            <a:r>
              <a:rPr dirty="0" sz="1750" spc="13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00" spc="11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700" spc="3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50" spc="125">
                <a:solidFill>
                  <a:srgbClr val="F4F4F6"/>
                </a:solidFill>
                <a:latin typeface="Times New Roman"/>
                <a:cs typeface="Times New Roman"/>
              </a:rPr>
              <a:t>Anand</a:t>
            </a:r>
            <a:r>
              <a:rPr dirty="0" sz="1700" spc="125">
                <a:solidFill>
                  <a:srgbClr val="F4F4F6"/>
                </a:solidFill>
                <a:latin typeface="Times New Roman"/>
                <a:cs typeface="Times New Roman"/>
              </a:rPr>
              <a:t>,</a:t>
            </a:r>
            <a:r>
              <a:rPr dirty="0" sz="1700" spc="23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50" spc="125">
                <a:solidFill>
                  <a:srgbClr val="F4F4F6"/>
                </a:solidFill>
                <a:latin typeface="Times New Roman"/>
                <a:cs typeface="Times New Roman"/>
              </a:rPr>
              <a:t>Gujarat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000" spc="125">
                <a:solidFill>
                  <a:srgbClr val="9FA9BE"/>
                </a:solidFill>
                <a:latin typeface="Times New Roman"/>
                <a:cs typeface="Times New Roman"/>
              </a:rPr>
              <a:t>SYM</a:t>
            </a:r>
            <a:r>
              <a:rPr dirty="0" sz="1000" spc="-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9FA9BE"/>
                </a:solidFill>
                <a:latin typeface="Times New Roman"/>
                <a:cs typeface="Times New Roman"/>
              </a:rPr>
              <a:t>PTOM</a:t>
            </a:r>
            <a:r>
              <a:rPr dirty="0" sz="1000" spc="-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30">
                <a:solidFill>
                  <a:srgbClr val="9FA9BE"/>
                </a:solidFill>
                <a:latin typeface="Times New Roman"/>
                <a:cs typeface="Times New Roman"/>
              </a:rPr>
              <a:t>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2100" spc="355">
                <a:solidFill>
                  <a:srgbClr val="FFB200"/>
                </a:solidFill>
                <a:latin typeface="MS PGothic"/>
                <a:cs typeface="MS PGothic"/>
              </a:rPr>
              <a:t>❤</a:t>
            </a:r>
            <a:r>
              <a:rPr dirty="0" sz="2100" spc="-335">
                <a:solidFill>
                  <a:srgbClr val="FFB200"/>
                </a:solidFill>
                <a:latin typeface="MS PGothic"/>
                <a:cs typeface="MS PGothic"/>
              </a:rPr>
              <a:t> </a:t>
            </a:r>
            <a:r>
              <a:rPr dirty="0" sz="1750" spc="210">
                <a:solidFill>
                  <a:srgbClr val="FFB200"/>
                </a:solidFill>
                <a:latin typeface="Times New Roman"/>
                <a:cs typeface="Times New Roman"/>
              </a:rPr>
              <a:t>Severe</a:t>
            </a:r>
            <a:r>
              <a:rPr dirty="0" sz="1750" spc="90">
                <a:solidFill>
                  <a:srgbClr val="FFB200"/>
                </a:solidFill>
                <a:latin typeface="Times New Roman"/>
                <a:cs typeface="Times New Roman"/>
              </a:rPr>
              <a:t> </a:t>
            </a:r>
            <a:r>
              <a:rPr dirty="0" sz="1750" spc="245">
                <a:solidFill>
                  <a:srgbClr val="FFB200"/>
                </a:solidFill>
                <a:latin typeface="Times New Roman"/>
                <a:cs typeface="Times New Roman"/>
              </a:rPr>
              <a:t>chest</a:t>
            </a:r>
            <a:r>
              <a:rPr dirty="0" sz="1750" spc="90">
                <a:solidFill>
                  <a:srgbClr val="FFB200"/>
                </a:solidFill>
                <a:latin typeface="Times New Roman"/>
                <a:cs typeface="Times New Roman"/>
              </a:rPr>
              <a:t> </a:t>
            </a:r>
            <a:r>
              <a:rPr dirty="0" sz="1750" spc="130">
                <a:solidFill>
                  <a:srgbClr val="FFB200"/>
                </a:solidFill>
                <a:latin typeface="Times New Roman"/>
                <a:cs typeface="Times New Roman"/>
              </a:rPr>
              <a:t>pain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000" spc="-55">
                <a:solidFill>
                  <a:srgbClr val="9FA9BE"/>
                </a:solidFill>
                <a:latin typeface="Times New Roman"/>
                <a:cs typeface="Times New Roman"/>
              </a:rPr>
              <a:t>VI</a:t>
            </a:r>
            <a:r>
              <a:rPr dirty="0" sz="1000" spc="-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TALS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750">
                <a:solidFill>
                  <a:srgbClr val="F4F4F6"/>
                </a:solidFill>
                <a:latin typeface="Times New Roman"/>
                <a:cs typeface="Times New Roman"/>
              </a:rPr>
              <a:t>HR</a:t>
            </a:r>
            <a:r>
              <a:rPr dirty="0" sz="1700">
                <a:solidFill>
                  <a:srgbClr val="F4F4F6"/>
                </a:solidFill>
                <a:latin typeface="Times New Roman"/>
                <a:cs typeface="Times New Roman"/>
              </a:rPr>
              <a:t>:</a:t>
            </a:r>
            <a:r>
              <a:rPr dirty="0" sz="1700" spc="20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4F4F6"/>
                </a:solidFill>
                <a:latin typeface="Times New Roman"/>
                <a:cs typeface="Times New Roman"/>
              </a:rPr>
              <a:t>118</a:t>
            </a:r>
            <a:r>
              <a:rPr dirty="0" sz="1700" spc="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50" spc="-25">
                <a:solidFill>
                  <a:srgbClr val="F4F4F6"/>
                </a:solidFill>
                <a:latin typeface="Times New Roman"/>
                <a:cs typeface="Times New Roman"/>
              </a:rPr>
              <a:t>BPM</a:t>
            </a:r>
            <a:endParaRPr sz="175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  <a:spcBef>
                <a:spcPts val="25"/>
              </a:spcBef>
            </a:pPr>
            <a:r>
              <a:rPr dirty="0" sz="1750" spc="85">
                <a:solidFill>
                  <a:srgbClr val="F4F4F6"/>
                </a:solidFill>
                <a:latin typeface="Times New Roman"/>
                <a:cs typeface="Times New Roman"/>
              </a:rPr>
              <a:t>SpO</a:t>
            </a:r>
            <a:r>
              <a:rPr dirty="0" sz="1800" spc="85">
                <a:solidFill>
                  <a:srgbClr val="F4F4F6"/>
                </a:solidFill>
                <a:latin typeface="Microsoft Sans Serif"/>
                <a:cs typeface="Microsoft Sans Serif"/>
              </a:rPr>
              <a:t>₂</a:t>
            </a:r>
            <a:r>
              <a:rPr dirty="0" sz="1700" spc="85">
                <a:solidFill>
                  <a:srgbClr val="F4F4F6"/>
                </a:solidFill>
                <a:latin typeface="Times New Roman"/>
                <a:cs typeface="Times New Roman"/>
              </a:rPr>
              <a:t>:</a:t>
            </a:r>
            <a:r>
              <a:rPr dirty="0" sz="1700" spc="2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00" spc="245">
                <a:solidFill>
                  <a:srgbClr val="F4F4F6"/>
                </a:solidFill>
                <a:latin typeface="Times New Roman"/>
                <a:cs typeface="Times New Roman"/>
              </a:rPr>
              <a:t>89%</a:t>
            </a:r>
            <a:endParaRPr sz="17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  <a:spcBef>
                <a:spcPts val="140"/>
              </a:spcBef>
            </a:pPr>
            <a:r>
              <a:rPr dirty="0" sz="1750">
                <a:solidFill>
                  <a:srgbClr val="F4F4F6"/>
                </a:solidFill>
                <a:latin typeface="Times New Roman"/>
                <a:cs typeface="Times New Roman"/>
              </a:rPr>
              <a:t>BP</a:t>
            </a:r>
            <a:r>
              <a:rPr dirty="0" sz="1700">
                <a:solidFill>
                  <a:srgbClr val="F4F4F6"/>
                </a:solidFill>
                <a:latin typeface="Times New Roman"/>
                <a:cs typeface="Times New Roman"/>
              </a:rPr>
              <a:t>:</a:t>
            </a:r>
            <a:r>
              <a:rPr dirty="0" sz="1700" spc="28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00" spc="265">
                <a:solidFill>
                  <a:srgbClr val="F4F4F6"/>
                </a:solidFill>
                <a:latin typeface="Times New Roman"/>
                <a:cs typeface="Times New Roman"/>
              </a:rPr>
              <a:t>90/60</a:t>
            </a:r>
            <a:r>
              <a:rPr dirty="0" sz="1700" spc="14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750" spc="160">
                <a:solidFill>
                  <a:srgbClr val="F4F4F6"/>
                </a:solidFill>
                <a:latin typeface="Times New Roman"/>
                <a:cs typeface="Times New Roman"/>
              </a:rPr>
              <a:t>mmHg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3687" y="1452562"/>
            <a:ext cx="5086350" cy="609600"/>
          </a:xfrm>
          <a:prstGeom prst="rect">
            <a:avLst/>
          </a:prstGeom>
          <a:solidFill>
            <a:srgbClr val="FF5151">
              <a:alpha val="10198"/>
            </a:srgbClr>
          </a:solidFill>
          <a:ln w="9525">
            <a:solidFill>
              <a:srgbClr val="FF515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</a:pPr>
            <a:r>
              <a:rPr dirty="0" sz="2250" spc="110">
                <a:solidFill>
                  <a:srgbClr val="FF5151"/>
                </a:solidFill>
                <a:latin typeface="Times New Roman"/>
                <a:cs typeface="Times New Roman"/>
              </a:rPr>
              <a:t>CRITICAL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6225" y="2514871"/>
            <a:ext cx="1796414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REQUI</a:t>
            </a:r>
            <a:r>
              <a:rPr dirty="0" sz="1000" spc="-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9FA9BE"/>
                </a:solidFill>
                <a:latin typeface="Times New Roman"/>
                <a:cs typeface="Times New Roman"/>
              </a:rPr>
              <a:t>RED</a:t>
            </a:r>
            <a:r>
              <a:rPr dirty="0" sz="1000" spc="29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9FA9BE"/>
                </a:solidFill>
                <a:latin typeface="Times New Roman"/>
                <a:cs typeface="Times New Roman"/>
              </a:rPr>
              <a:t>CAPABI</a:t>
            </a:r>
            <a:r>
              <a:rPr dirty="0" sz="1000" spc="-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65">
                <a:solidFill>
                  <a:srgbClr val="9FA9BE"/>
                </a:solidFill>
                <a:latin typeface="Times New Roman"/>
                <a:cs typeface="Times New Roman"/>
              </a:rPr>
              <a:t>LI</a:t>
            </a:r>
            <a:r>
              <a:rPr dirty="0" sz="1000" spc="-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9FA9BE"/>
                </a:solidFill>
                <a:latin typeface="Times New Roman"/>
                <a:cs typeface="Times New Roman"/>
              </a:rPr>
              <a:t>TI</a:t>
            </a:r>
            <a:r>
              <a:rPr dirty="0" sz="1000" spc="-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9FA9BE"/>
                </a:solidFill>
                <a:latin typeface="Times New Roman"/>
                <a:cs typeface="Times New Roman"/>
              </a:rPr>
              <a:t>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6225" y="2866413"/>
            <a:ext cx="2620010" cy="962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Times New Roman"/>
              <a:cs typeface="Times New Roman"/>
            </a:endParaRPr>
          </a:p>
          <a:p>
            <a:pPr marL="270510" indent="-257810">
              <a:lnSpc>
                <a:spcPct val="100000"/>
              </a:lnSpc>
              <a:spcBef>
                <a:spcPts val="5"/>
              </a:spcBef>
              <a:buClr>
                <a:srgbClr val="00E5FF"/>
              </a:buClr>
              <a:buSzPct val="103846"/>
              <a:buFont typeface="Segoe UI Emoji"/>
              <a:buChar char="✓"/>
              <a:tabLst>
                <a:tab pos="270510" algn="l"/>
              </a:tabLst>
            </a:pPr>
            <a:r>
              <a:rPr dirty="0" sz="1300" spc="-210">
                <a:solidFill>
                  <a:srgbClr val="F4F4F6"/>
                </a:solidFill>
                <a:latin typeface="Times New Roman"/>
                <a:cs typeface="Times New Roman"/>
              </a:rPr>
              <a:t>I </a:t>
            </a: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CU</a:t>
            </a:r>
            <a:r>
              <a:rPr dirty="0" sz="1300" spc="4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r>
              <a:rPr dirty="0" sz="1300" spc="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F4F4F6"/>
                </a:solidFill>
                <a:latin typeface="Times New Roman"/>
                <a:cs typeface="Times New Roman"/>
              </a:rPr>
              <a:t>Oxygen </a:t>
            </a:r>
            <a:r>
              <a:rPr dirty="0" sz="1300" spc="145">
                <a:solidFill>
                  <a:srgbClr val="F4F4F6"/>
                </a:solidFill>
                <a:latin typeface="Times New Roman"/>
                <a:cs typeface="Times New Roman"/>
              </a:rPr>
              <a:t>Support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 marL="270510" indent="-257810">
              <a:lnSpc>
                <a:spcPct val="100000"/>
              </a:lnSpc>
              <a:buClr>
                <a:srgbClr val="00E5FF"/>
              </a:buClr>
              <a:buSzPct val="103846"/>
              <a:buFont typeface="Segoe UI Emoji"/>
              <a:buChar char="✓"/>
              <a:tabLst>
                <a:tab pos="270510" algn="l"/>
              </a:tabLst>
            </a:pPr>
            <a:r>
              <a:rPr dirty="0" sz="1300" spc="85">
                <a:solidFill>
                  <a:srgbClr val="F4F4F6"/>
                </a:solidFill>
                <a:latin typeface="Times New Roman"/>
                <a:cs typeface="Times New Roman"/>
              </a:rPr>
              <a:t>Cardiac-</a:t>
            </a:r>
            <a:r>
              <a:rPr dirty="0" sz="1300" spc="105">
                <a:solidFill>
                  <a:srgbClr val="F4F4F6"/>
                </a:solidFill>
                <a:latin typeface="Times New Roman"/>
                <a:cs typeface="Times New Roman"/>
              </a:rPr>
              <a:t>Capable</a:t>
            </a:r>
            <a:r>
              <a:rPr dirty="0" sz="1300" spc="110">
                <a:solidFill>
                  <a:srgbClr val="F4F4F6"/>
                </a:solidFill>
                <a:latin typeface="Times New Roman"/>
                <a:cs typeface="Times New Roman"/>
              </a:rPr>
              <a:t> Treatment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 marL="270510" indent="-257810">
              <a:lnSpc>
                <a:spcPct val="100000"/>
              </a:lnSpc>
              <a:buClr>
                <a:srgbClr val="00E5FF"/>
              </a:buClr>
              <a:buSzPct val="103846"/>
              <a:buFont typeface="Segoe UI Emoji"/>
              <a:buChar char="✓"/>
              <a:tabLst>
                <a:tab pos="270510" algn="l"/>
              </a:tabLst>
            </a:pPr>
            <a:r>
              <a:rPr dirty="0" sz="1300" spc="120">
                <a:solidFill>
                  <a:srgbClr val="F4F4F6"/>
                </a:solidFill>
                <a:latin typeface="Times New Roman"/>
                <a:cs typeface="Times New Roman"/>
              </a:rPr>
              <a:t>Emergency</a:t>
            </a:r>
            <a:r>
              <a:rPr dirty="0" sz="1300" spc="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F4F4F6"/>
                </a:solidFill>
                <a:latin typeface="Times New Roman"/>
                <a:cs typeface="Times New Roman"/>
              </a:rPr>
              <a:t>Team</a:t>
            </a:r>
            <a:r>
              <a:rPr dirty="0" sz="1300" spc="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F4F4F6"/>
                </a:solidFill>
                <a:latin typeface="Times New Roman"/>
                <a:cs typeface="Times New Roman"/>
              </a:rPr>
              <a:t>Readiness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8925" y="5800725"/>
            <a:ext cx="5095875" cy="9525"/>
          </a:xfrm>
          <a:custGeom>
            <a:avLst/>
            <a:gdLst/>
            <a:ahLst/>
            <a:cxnLst/>
            <a:rect l="l" t="t" r="r" b="b"/>
            <a:pathLst>
              <a:path w="5095875" h="9525">
                <a:moveTo>
                  <a:pt x="5095875" y="0"/>
                </a:moveTo>
                <a:lnTo>
                  <a:pt x="0" y="0"/>
                </a:lnTo>
                <a:lnTo>
                  <a:pt x="0" y="9525"/>
                </a:lnTo>
                <a:lnTo>
                  <a:pt x="5095875" y="9525"/>
                </a:lnTo>
                <a:lnTo>
                  <a:pt x="5095875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51970" y="5949476"/>
            <a:ext cx="4655185" cy="3060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dirty="0" sz="900" spc="-380" i="1">
                <a:solidFill>
                  <a:srgbClr val="9FA9BE"/>
                </a:solidFill>
                <a:latin typeface="Arial"/>
                <a:cs typeface="Arial"/>
              </a:rPr>
              <a:t>PRAANJEEVprovidesAI</a:t>
            </a:r>
            <a:r>
              <a:rPr dirty="0" sz="300" spc="-380" i="1">
                <a:solidFill>
                  <a:srgbClr val="9FA9BE"/>
                </a:solidFill>
                <a:latin typeface="Arial"/>
                <a:cs typeface="Arial"/>
              </a:rPr>
              <a:t>-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po</a:t>
            </a:r>
            <a:r>
              <a:rPr dirty="0" sz="900" spc="-375" i="1">
                <a:solidFill>
                  <a:srgbClr val="9FA9BE"/>
                </a:solidFill>
                <a:latin typeface="Arial"/>
                <a:cs typeface="Arial"/>
              </a:rPr>
              <a:t>w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e</a:t>
            </a:r>
            <a:r>
              <a:rPr dirty="0" sz="900" spc="-375" i="1">
                <a:solidFill>
                  <a:srgbClr val="9FA9BE"/>
                </a:solidFill>
                <a:latin typeface="Arial"/>
                <a:cs typeface="Arial"/>
              </a:rPr>
              <a:t>r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e</a:t>
            </a:r>
            <a:r>
              <a:rPr dirty="0" sz="900" spc="-155" i="1">
                <a:solidFill>
                  <a:srgbClr val="9FA9BE"/>
                </a:solidFill>
                <a:latin typeface="Arial"/>
                <a:cs typeface="Arial"/>
              </a:rPr>
              <a:t>d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de</a:t>
            </a:r>
            <a:r>
              <a:rPr dirty="0" sz="900" spc="-345" i="1">
                <a:solidFill>
                  <a:srgbClr val="9FA9BE"/>
                </a:solidFill>
                <a:latin typeface="Arial"/>
                <a:cs typeface="Arial"/>
              </a:rPr>
              <a:t>c</a:t>
            </a:r>
            <a:r>
              <a:rPr dirty="0" sz="900" spc="-475" i="1">
                <a:solidFill>
                  <a:srgbClr val="9FA9BE"/>
                </a:solidFill>
                <a:latin typeface="Arial"/>
                <a:cs typeface="Arial"/>
              </a:rPr>
              <a:t>i</a:t>
            </a:r>
            <a:r>
              <a:rPr dirty="0" sz="900" spc="-409" i="1">
                <a:solidFill>
                  <a:srgbClr val="9FA9BE"/>
                </a:solidFill>
                <a:latin typeface="Arial"/>
                <a:cs typeface="Arial"/>
              </a:rPr>
              <a:t>s</a:t>
            </a:r>
            <a:r>
              <a:rPr dirty="0" sz="900" spc="-475" i="1">
                <a:solidFill>
                  <a:srgbClr val="9FA9BE"/>
                </a:solidFill>
                <a:latin typeface="Arial"/>
                <a:cs typeface="Arial"/>
              </a:rPr>
              <a:t>i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145" i="1">
                <a:solidFill>
                  <a:srgbClr val="9FA9BE"/>
                </a:solidFill>
                <a:latin typeface="Arial"/>
                <a:cs typeface="Arial"/>
              </a:rPr>
              <a:t>n</a:t>
            </a:r>
            <a:r>
              <a:rPr dirty="0" sz="900" spc="-409" i="1">
                <a:solidFill>
                  <a:srgbClr val="9FA9BE"/>
                </a:solidFill>
                <a:latin typeface="Arial"/>
                <a:cs typeface="Arial"/>
              </a:rPr>
              <a:t>s</a:t>
            </a:r>
            <a:r>
              <a:rPr dirty="0" sz="900" spc="-345" i="1">
                <a:solidFill>
                  <a:srgbClr val="9FA9BE"/>
                </a:solidFill>
                <a:latin typeface="Arial"/>
                <a:cs typeface="Arial"/>
              </a:rPr>
              <a:t>u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ppo</a:t>
            </a:r>
            <a:r>
              <a:rPr dirty="0" sz="900" spc="-375" i="1">
                <a:solidFill>
                  <a:srgbClr val="9FA9BE"/>
                </a:solidFill>
                <a:latin typeface="Arial"/>
                <a:cs typeface="Arial"/>
              </a:rPr>
              <a:t>r</a:t>
            </a:r>
            <a:r>
              <a:rPr dirty="0" sz="900" spc="-130" i="1">
                <a:solidFill>
                  <a:srgbClr val="9FA9BE"/>
                </a:solidFill>
                <a:latin typeface="Arial"/>
                <a:cs typeface="Arial"/>
              </a:rPr>
              <a:t>t</a:t>
            </a:r>
            <a:r>
              <a:rPr dirty="0" sz="900" spc="-345" i="1">
                <a:solidFill>
                  <a:srgbClr val="9FA9BE"/>
                </a:solidFill>
                <a:latin typeface="Arial"/>
                <a:cs typeface="Arial"/>
              </a:rPr>
              <a:t>an</a:t>
            </a:r>
            <a:r>
              <a:rPr dirty="0" sz="900" spc="-155" i="1">
                <a:solidFill>
                  <a:srgbClr val="9FA9BE"/>
                </a:solidFill>
                <a:latin typeface="Arial"/>
                <a:cs typeface="Arial"/>
              </a:rPr>
              <a:t>d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doe</a:t>
            </a:r>
            <a:r>
              <a:rPr dirty="0" sz="900" spc="-195" i="1">
                <a:solidFill>
                  <a:srgbClr val="9FA9BE"/>
                </a:solidFill>
                <a:latin typeface="Arial"/>
                <a:cs typeface="Arial"/>
              </a:rPr>
              <a:t>s</a:t>
            </a:r>
            <a:r>
              <a:rPr dirty="0" sz="900" spc="-345" i="1">
                <a:solidFill>
                  <a:srgbClr val="9FA9BE"/>
                </a:solidFill>
                <a:latin typeface="Arial"/>
                <a:cs typeface="Arial"/>
              </a:rPr>
              <a:t>n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130" i="1">
                <a:solidFill>
                  <a:srgbClr val="9FA9BE"/>
                </a:solidFill>
                <a:latin typeface="Arial"/>
                <a:cs typeface="Arial"/>
              </a:rPr>
              <a:t>t</a:t>
            </a:r>
            <a:r>
              <a:rPr dirty="0" sz="900" spc="-375" i="1">
                <a:solidFill>
                  <a:srgbClr val="9FA9BE"/>
                </a:solidFill>
                <a:latin typeface="Arial"/>
                <a:cs typeface="Arial"/>
              </a:rPr>
              <a:t>r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ep</a:t>
            </a:r>
            <a:r>
              <a:rPr dirty="0" sz="900" spc="-515" i="1">
                <a:solidFill>
                  <a:srgbClr val="9FA9BE"/>
                </a:solidFill>
                <a:latin typeface="Arial"/>
                <a:cs typeface="Arial"/>
              </a:rPr>
              <a:t>l</a:t>
            </a:r>
            <a:r>
              <a:rPr dirty="0" sz="900" spc="-345" i="1">
                <a:solidFill>
                  <a:srgbClr val="9FA9BE"/>
                </a:solidFill>
                <a:latin typeface="Arial"/>
                <a:cs typeface="Arial"/>
              </a:rPr>
              <a:t>ac</a:t>
            </a:r>
            <a:r>
              <a:rPr dirty="0" sz="900" spc="-155" i="1">
                <a:solidFill>
                  <a:srgbClr val="9FA9BE"/>
                </a:solidFill>
                <a:latin typeface="Arial"/>
                <a:cs typeface="Arial"/>
              </a:rPr>
              <a:t>e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p</a:t>
            </a:r>
            <a:r>
              <a:rPr dirty="0" sz="900" spc="-375" i="1">
                <a:solidFill>
                  <a:srgbClr val="9FA9BE"/>
                </a:solidFill>
                <a:latin typeface="Arial"/>
                <a:cs typeface="Arial"/>
              </a:rPr>
              <a:t>r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285" i="1">
                <a:solidFill>
                  <a:srgbClr val="9FA9BE"/>
                </a:solidFill>
                <a:latin typeface="Arial"/>
                <a:cs typeface="Arial"/>
              </a:rPr>
              <a:t>f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e</a:t>
            </a:r>
            <a:r>
              <a:rPr dirty="0" sz="900" spc="-409" i="1">
                <a:solidFill>
                  <a:srgbClr val="9FA9BE"/>
                </a:solidFill>
                <a:latin typeface="Arial"/>
                <a:cs typeface="Arial"/>
              </a:rPr>
              <a:t>ss</a:t>
            </a:r>
            <a:r>
              <a:rPr dirty="0" sz="900" spc="-475" i="1">
                <a:solidFill>
                  <a:srgbClr val="9FA9BE"/>
                </a:solidFill>
                <a:latin typeface="Arial"/>
                <a:cs typeface="Arial"/>
              </a:rPr>
              <a:t>i</a:t>
            </a:r>
            <a:r>
              <a:rPr dirty="0" sz="900" spc="-35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345" i="1">
                <a:solidFill>
                  <a:srgbClr val="9FA9BE"/>
                </a:solidFill>
                <a:latin typeface="Arial"/>
                <a:cs typeface="Arial"/>
              </a:rPr>
              <a:t>na</a:t>
            </a:r>
            <a:r>
              <a:rPr dirty="0" sz="900" spc="40" i="1">
                <a:solidFill>
                  <a:srgbClr val="9FA9BE"/>
                </a:solidFill>
                <a:latin typeface="Arial"/>
                <a:cs typeface="Arial"/>
              </a:rPr>
              <a:t>l</a:t>
            </a:r>
            <a:r>
              <a:rPr dirty="0" sz="900" spc="500" i="1">
                <a:solidFill>
                  <a:srgbClr val="9FA9BE"/>
                </a:solidFill>
                <a:latin typeface="Arial"/>
                <a:cs typeface="Arial"/>
              </a:rPr>
              <a:t>                                </a:t>
            </a:r>
            <a:r>
              <a:rPr dirty="0" sz="900" spc="-360" i="1">
                <a:solidFill>
                  <a:srgbClr val="9FA9BE"/>
                </a:solidFill>
                <a:latin typeface="Arial"/>
                <a:cs typeface="Arial"/>
              </a:rPr>
              <a:t>m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ed</a:t>
            </a:r>
            <a:r>
              <a:rPr dirty="0" sz="900" spc="-465" i="1">
                <a:solidFill>
                  <a:srgbClr val="9FA9BE"/>
                </a:solidFill>
                <a:latin typeface="Arial"/>
                <a:cs typeface="Arial"/>
              </a:rPr>
              <a:t>i</a:t>
            </a:r>
            <a:r>
              <a:rPr dirty="0" sz="900" spc="-335" i="1">
                <a:solidFill>
                  <a:srgbClr val="9FA9BE"/>
                </a:solidFill>
                <a:latin typeface="Arial"/>
                <a:cs typeface="Arial"/>
              </a:rPr>
              <a:t>ca</a:t>
            </a:r>
            <a:r>
              <a:rPr dirty="0" sz="900" spc="-175" i="1">
                <a:solidFill>
                  <a:srgbClr val="9FA9BE"/>
                </a:solidFill>
                <a:latin typeface="Arial"/>
                <a:cs typeface="Arial"/>
              </a:rPr>
              <a:t>l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d</a:t>
            </a:r>
            <a:r>
              <a:rPr dirty="0" sz="900" spc="-465" i="1">
                <a:solidFill>
                  <a:srgbClr val="9FA9BE"/>
                </a:solidFill>
                <a:latin typeface="Arial"/>
                <a:cs typeface="Arial"/>
              </a:rPr>
              <a:t>i</a:t>
            </a:r>
            <a:r>
              <a:rPr dirty="0" sz="900" spc="-335" i="1">
                <a:solidFill>
                  <a:srgbClr val="9FA9BE"/>
                </a:solidFill>
                <a:latin typeface="Arial"/>
                <a:cs typeface="Arial"/>
              </a:rPr>
              <a:t>a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g</a:t>
            </a:r>
            <a:r>
              <a:rPr dirty="0" sz="900" spc="-335" i="1">
                <a:solidFill>
                  <a:srgbClr val="9FA9BE"/>
                </a:solidFill>
                <a:latin typeface="Arial"/>
                <a:cs typeface="Arial"/>
              </a:rPr>
              <a:t>n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400" i="1">
                <a:solidFill>
                  <a:srgbClr val="9FA9BE"/>
                </a:solidFill>
                <a:latin typeface="Arial"/>
                <a:cs typeface="Arial"/>
              </a:rPr>
              <a:t>s</a:t>
            </a:r>
            <a:r>
              <a:rPr dirty="0" sz="900" spc="-465" i="1">
                <a:solidFill>
                  <a:srgbClr val="9FA9BE"/>
                </a:solidFill>
                <a:latin typeface="Arial"/>
                <a:cs typeface="Arial"/>
              </a:rPr>
              <a:t>i</a:t>
            </a:r>
            <a:r>
              <a:rPr dirty="0" sz="900" spc="-185" i="1">
                <a:solidFill>
                  <a:srgbClr val="9FA9BE"/>
                </a:solidFill>
                <a:latin typeface="Arial"/>
                <a:cs typeface="Arial"/>
              </a:rPr>
              <a:t>s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140" i="1">
                <a:solidFill>
                  <a:srgbClr val="9FA9BE"/>
                </a:solidFill>
                <a:latin typeface="Arial"/>
                <a:cs typeface="Arial"/>
              </a:rPr>
              <a:t>r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do</a:t>
            </a:r>
            <a:r>
              <a:rPr dirty="0" sz="900" spc="-335" i="1">
                <a:solidFill>
                  <a:srgbClr val="9FA9BE"/>
                </a:solidFill>
                <a:latin typeface="Arial"/>
                <a:cs typeface="Arial"/>
              </a:rPr>
              <a:t>c</a:t>
            </a:r>
            <a:r>
              <a:rPr dirty="0" sz="900" spc="-290" i="1">
                <a:solidFill>
                  <a:srgbClr val="9FA9BE"/>
                </a:solidFill>
                <a:latin typeface="Arial"/>
                <a:cs typeface="Arial"/>
              </a:rPr>
              <a:t>t</a:t>
            </a:r>
            <a:r>
              <a:rPr dirty="0" sz="900" spc="-340" i="1">
                <a:solidFill>
                  <a:srgbClr val="9FA9BE"/>
                </a:solidFill>
                <a:latin typeface="Arial"/>
                <a:cs typeface="Arial"/>
              </a:rPr>
              <a:t>o</a:t>
            </a:r>
            <a:r>
              <a:rPr dirty="0" sz="900" spc="-365" i="1">
                <a:solidFill>
                  <a:srgbClr val="9FA9BE"/>
                </a:solidFill>
                <a:latin typeface="Arial"/>
                <a:cs typeface="Arial"/>
              </a:rPr>
              <a:t>r</a:t>
            </a:r>
            <a:r>
              <a:rPr dirty="0" sz="900" spc="-200" i="1">
                <a:solidFill>
                  <a:srgbClr val="9FA9BE"/>
                </a:solidFill>
                <a:latin typeface="Arial"/>
                <a:cs typeface="Arial"/>
              </a:rPr>
              <a:t>s</a:t>
            </a:r>
            <a:r>
              <a:rPr dirty="0" sz="300" spc="50" i="1">
                <a:solidFill>
                  <a:srgbClr val="9FA9BE"/>
                </a:solidFill>
                <a:latin typeface="Arial"/>
                <a:cs typeface="Arial"/>
              </a:rPr>
              <a:t>.</a:t>
            </a:r>
            <a:endParaRPr sz="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 spc="-65"/>
              <a:t>nearest</a:t>
            </a:r>
            <a:r>
              <a:rPr dirty="0" spc="-95"/>
              <a:t> </a:t>
            </a:r>
            <a:r>
              <a:rPr dirty="0"/>
              <a:t>hospital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 spc="-55"/>
              <a:t>always</a:t>
            </a:r>
            <a:r>
              <a:rPr dirty="0" spc="-114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right</a:t>
            </a:r>
            <a:r>
              <a:rPr dirty="0" spc="-95"/>
              <a:t> </a:t>
            </a:r>
            <a:r>
              <a:rPr dirty="0" spc="-10"/>
              <a:t>hospital.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066924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11277600" y="0"/>
                </a:moveTo>
                <a:lnTo>
                  <a:pt x="8286750" y="0"/>
                </a:lnTo>
                <a:lnTo>
                  <a:pt x="5448300" y="0"/>
                </a:lnTo>
                <a:lnTo>
                  <a:pt x="2343150" y="0"/>
                </a:lnTo>
                <a:lnTo>
                  <a:pt x="0" y="0"/>
                </a:lnTo>
                <a:lnTo>
                  <a:pt x="0" y="9525"/>
                </a:lnTo>
                <a:lnTo>
                  <a:pt x="2343150" y="9525"/>
                </a:lnTo>
                <a:lnTo>
                  <a:pt x="5448300" y="9525"/>
                </a:lnTo>
                <a:lnTo>
                  <a:pt x="8286750" y="9525"/>
                </a:lnTo>
                <a:lnTo>
                  <a:pt x="11277600" y="9525"/>
                </a:lnTo>
                <a:lnTo>
                  <a:pt x="11277600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7200" y="4067175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11277600" y="0"/>
                </a:moveTo>
                <a:lnTo>
                  <a:pt x="8286750" y="0"/>
                </a:lnTo>
                <a:lnTo>
                  <a:pt x="5448300" y="0"/>
                </a:lnTo>
                <a:lnTo>
                  <a:pt x="2343150" y="0"/>
                </a:lnTo>
                <a:lnTo>
                  <a:pt x="0" y="0"/>
                </a:lnTo>
                <a:lnTo>
                  <a:pt x="0" y="9525"/>
                </a:lnTo>
                <a:lnTo>
                  <a:pt x="2343150" y="9525"/>
                </a:lnTo>
                <a:lnTo>
                  <a:pt x="5448300" y="9525"/>
                </a:lnTo>
                <a:lnTo>
                  <a:pt x="8286750" y="9525"/>
                </a:lnTo>
                <a:lnTo>
                  <a:pt x="11277600" y="9525"/>
                </a:lnTo>
                <a:lnTo>
                  <a:pt x="11277600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457200" y="2733675"/>
            <a:ext cx="11277600" cy="676275"/>
            <a:chOff x="457200" y="2733675"/>
            <a:chExt cx="11277600" cy="676275"/>
          </a:xfrm>
        </p:grpSpPr>
        <p:sp>
          <p:nvSpPr>
            <p:cNvPr id="6" name="object 6"/>
            <p:cNvSpPr/>
            <p:nvPr/>
          </p:nvSpPr>
          <p:spPr>
            <a:xfrm>
              <a:off x="457200" y="2743199"/>
              <a:ext cx="11277600" cy="666750"/>
            </a:xfrm>
            <a:custGeom>
              <a:avLst/>
              <a:gdLst/>
              <a:ahLst/>
              <a:cxnLst/>
              <a:rect l="l" t="t" r="r" b="b"/>
              <a:pathLst>
                <a:path w="11277600" h="666750">
                  <a:moveTo>
                    <a:pt x="11277600" y="0"/>
                  </a:moveTo>
                  <a:lnTo>
                    <a:pt x="8286750" y="0"/>
                  </a:lnTo>
                  <a:lnTo>
                    <a:pt x="5448300" y="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2343150" y="666750"/>
                  </a:lnTo>
                  <a:lnTo>
                    <a:pt x="5448300" y="666750"/>
                  </a:lnTo>
                  <a:lnTo>
                    <a:pt x="8286750" y="666750"/>
                  </a:lnTo>
                  <a:lnTo>
                    <a:pt x="11277600" y="666750"/>
                  </a:lnTo>
                  <a:lnTo>
                    <a:pt x="11277600" y="0"/>
                  </a:lnTo>
                  <a:close/>
                </a:path>
              </a:pathLst>
            </a:custGeom>
            <a:solidFill>
              <a:srgbClr val="00E5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2733674"/>
              <a:ext cx="11277600" cy="676275"/>
            </a:xfrm>
            <a:custGeom>
              <a:avLst/>
              <a:gdLst/>
              <a:ahLst/>
              <a:cxnLst/>
              <a:rect l="l" t="t" r="r" b="b"/>
              <a:pathLst>
                <a:path w="11277600" h="676275">
                  <a:moveTo>
                    <a:pt x="11277600" y="666750"/>
                  </a:moveTo>
                  <a:lnTo>
                    <a:pt x="8286750" y="666750"/>
                  </a:lnTo>
                  <a:lnTo>
                    <a:pt x="5448300" y="666750"/>
                  </a:lnTo>
                  <a:lnTo>
                    <a:pt x="2343150" y="666750"/>
                  </a:lnTo>
                  <a:lnTo>
                    <a:pt x="0" y="666750"/>
                  </a:lnTo>
                  <a:lnTo>
                    <a:pt x="0" y="676275"/>
                  </a:lnTo>
                  <a:lnTo>
                    <a:pt x="2343150" y="676275"/>
                  </a:lnTo>
                  <a:lnTo>
                    <a:pt x="5448300" y="676275"/>
                  </a:lnTo>
                  <a:lnTo>
                    <a:pt x="8286750" y="676275"/>
                  </a:lnTo>
                  <a:lnTo>
                    <a:pt x="11277600" y="676275"/>
                  </a:lnTo>
                  <a:lnTo>
                    <a:pt x="11277600" y="666750"/>
                  </a:lnTo>
                  <a:close/>
                </a:path>
                <a:path w="11277600" h="676275">
                  <a:moveTo>
                    <a:pt x="11277600" y="0"/>
                  </a:moveTo>
                  <a:lnTo>
                    <a:pt x="8286750" y="0"/>
                  </a:lnTo>
                  <a:lnTo>
                    <a:pt x="5448300" y="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343150" y="9525"/>
                  </a:lnTo>
                  <a:lnTo>
                    <a:pt x="5448300" y="9525"/>
                  </a:lnTo>
                  <a:lnTo>
                    <a:pt x="8286750" y="9525"/>
                  </a:lnTo>
                  <a:lnTo>
                    <a:pt x="11277600" y="9525"/>
                  </a:lnTo>
                  <a:lnTo>
                    <a:pt x="11277600" y="0"/>
                  </a:lnTo>
                  <a:close/>
                </a:path>
              </a:pathLst>
            </a:custGeom>
            <a:solidFill>
              <a:srgbClr val="2C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934450" y="2981325"/>
              <a:ext cx="1171575" cy="219075"/>
            </a:xfrm>
            <a:custGeom>
              <a:avLst/>
              <a:gdLst/>
              <a:ahLst/>
              <a:cxnLst/>
              <a:rect l="l" t="t" r="r" b="b"/>
              <a:pathLst>
                <a:path w="1171575" h="219075">
                  <a:moveTo>
                    <a:pt x="1155052" y="0"/>
                  </a:moveTo>
                  <a:lnTo>
                    <a:pt x="16522" y="0"/>
                  </a:lnTo>
                  <a:lnTo>
                    <a:pt x="14097" y="482"/>
                  </a:lnTo>
                  <a:lnTo>
                    <a:pt x="0" y="16522"/>
                  </a:lnTo>
                  <a:lnTo>
                    <a:pt x="0" y="200025"/>
                  </a:lnTo>
                  <a:lnTo>
                    <a:pt x="0" y="202552"/>
                  </a:lnTo>
                  <a:lnTo>
                    <a:pt x="16522" y="219075"/>
                  </a:lnTo>
                  <a:lnTo>
                    <a:pt x="1155052" y="219075"/>
                  </a:lnTo>
                  <a:lnTo>
                    <a:pt x="1171575" y="202552"/>
                  </a:lnTo>
                  <a:lnTo>
                    <a:pt x="1171575" y="16522"/>
                  </a:lnTo>
                  <a:lnTo>
                    <a:pt x="1157478" y="482"/>
                  </a:lnTo>
                  <a:lnTo>
                    <a:pt x="1155052" y="0"/>
                  </a:lnTo>
                  <a:close/>
                </a:path>
              </a:pathLst>
            </a:custGeom>
            <a:solidFill>
              <a:srgbClr val="00E5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35000" y="1707987"/>
            <a:ext cx="6832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HOSPITAL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2169" y="1707987"/>
            <a:ext cx="10744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0">
                <a:solidFill>
                  <a:srgbClr val="9FA9BE"/>
                </a:solidFill>
                <a:latin typeface="Times New Roman"/>
                <a:cs typeface="Times New Roman"/>
              </a:rPr>
              <a:t>DISTANCE</a:t>
            </a:r>
            <a:r>
              <a:rPr dirty="0" sz="1000" spc="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900" spc="225">
                <a:solidFill>
                  <a:srgbClr val="9FA9BE"/>
                </a:solidFill>
                <a:latin typeface="Times New Roman"/>
                <a:cs typeface="Times New Roman"/>
              </a:rPr>
              <a:t>/</a:t>
            </a:r>
            <a:r>
              <a:rPr dirty="0" sz="900" spc="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9FA9BE"/>
                </a:solidFill>
                <a:latin typeface="Times New Roman"/>
                <a:cs typeface="Times New Roman"/>
              </a:rPr>
              <a:t>ETA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1058" y="1707987"/>
            <a:ext cx="8388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75">
                <a:solidFill>
                  <a:srgbClr val="9FA9BE"/>
                </a:solidFill>
                <a:latin typeface="Times New Roman"/>
                <a:cs typeface="Times New Roman"/>
              </a:rPr>
              <a:t>RESOURCES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3380" y="1707987"/>
            <a:ext cx="6769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9FA9BE"/>
                </a:solidFill>
                <a:latin typeface="Times New Roman"/>
                <a:cs typeface="Times New Roman"/>
              </a:rPr>
              <a:t>AI</a:t>
            </a:r>
            <a:r>
              <a:rPr dirty="0" sz="1000" spc="-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MATCH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000" y="2287452"/>
            <a:ext cx="85534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85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300" spc="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50">
                <a:solidFill>
                  <a:srgbClr val="F4F4F6"/>
                </a:solidFill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2163" y="2287452"/>
            <a:ext cx="117856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2.1</a:t>
            </a:r>
            <a:r>
              <a:rPr dirty="0" sz="1250" spc="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F4F4F6"/>
                </a:solidFill>
                <a:latin typeface="Times New Roman"/>
                <a:cs typeface="Times New Roman"/>
              </a:rPr>
              <a:t>km</a:t>
            </a:r>
            <a:r>
              <a:rPr dirty="0" sz="1300" spc="6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250" spc="21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12</a:t>
            </a:r>
            <a:r>
              <a:rPr dirty="0" sz="1250" spc="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min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81068" y="2287452"/>
            <a:ext cx="9575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Limited</a:t>
            </a:r>
            <a:r>
              <a:rPr dirty="0" sz="1300" spc="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210">
                <a:solidFill>
                  <a:srgbClr val="F4F4F6"/>
                </a:solidFill>
                <a:latin typeface="Times New Roman"/>
                <a:cs typeface="Times New Roman"/>
              </a:rPr>
              <a:t>I</a:t>
            </a:r>
            <a:r>
              <a:rPr dirty="0" sz="1300" spc="-20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F4F4F6"/>
                </a:solidFill>
                <a:latin typeface="Times New Roman"/>
                <a:cs typeface="Times New Roman"/>
              </a:rPr>
              <a:t>CU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939212" y="2309812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0" y="214312"/>
                </a:moveTo>
                <a:lnTo>
                  <a:pt x="0" y="14287"/>
                </a:lnTo>
                <a:lnTo>
                  <a:pt x="0" y="12395"/>
                </a:lnTo>
                <a:lnTo>
                  <a:pt x="368" y="10566"/>
                </a:lnTo>
                <a:lnTo>
                  <a:pt x="1092" y="8826"/>
                </a:lnTo>
                <a:lnTo>
                  <a:pt x="1816" y="7073"/>
                </a:lnTo>
                <a:lnTo>
                  <a:pt x="2844" y="5524"/>
                </a:lnTo>
                <a:lnTo>
                  <a:pt x="4178" y="4178"/>
                </a:lnTo>
                <a:lnTo>
                  <a:pt x="5524" y="2844"/>
                </a:lnTo>
                <a:lnTo>
                  <a:pt x="7073" y="1816"/>
                </a:lnTo>
                <a:lnTo>
                  <a:pt x="8826" y="1092"/>
                </a:lnTo>
                <a:lnTo>
                  <a:pt x="10566" y="368"/>
                </a:lnTo>
                <a:lnTo>
                  <a:pt x="12395" y="0"/>
                </a:lnTo>
                <a:lnTo>
                  <a:pt x="14287" y="0"/>
                </a:lnTo>
                <a:lnTo>
                  <a:pt x="576262" y="0"/>
                </a:lnTo>
                <a:lnTo>
                  <a:pt x="578154" y="0"/>
                </a:lnTo>
                <a:lnTo>
                  <a:pt x="579983" y="368"/>
                </a:lnTo>
                <a:lnTo>
                  <a:pt x="581723" y="1092"/>
                </a:lnTo>
                <a:lnTo>
                  <a:pt x="583476" y="1816"/>
                </a:lnTo>
                <a:lnTo>
                  <a:pt x="585025" y="2844"/>
                </a:lnTo>
                <a:lnTo>
                  <a:pt x="586359" y="4178"/>
                </a:lnTo>
                <a:lnTo>
                  <a:pt x="587705" y="5524"/>
                </a:lnTo>
                <a:lnTo>
                  <a:pt x="588733" y="7073"/>
                </a:lnTo>
                <a:lnTo>
                  <a:pt x="589457" y="8826"/>
                </a:lnTo>
                <a:lnTo>
                  <a:pt x="590181" y="10566"/>
                </a:lnTo>
                <a:lnTo>
                  <a:pt x="590550" y="12395"/>
                </a:lnTo>
                <a:lnTo>
                  <a:pt x="590550" y="14287"/>
                </a:lnTo>
                <a:lnTo>
                  <a:pt x="590550" y="214312"/>
                </a:lnTo>
                <a:lnTo>
                  <a:pt x="590550" y="216204"/>
                </a:lnTo>
                <a:lnTo>
                  <a:pt x="590181" y="218033"/>
                </a:lnTo>
                <a:lnTo>
                  <a:pt x="589457" y="219773"/>
                </a:lnTo>
                <a:lnTo>
                  <a:pt x="588733" y="221526"/>
                </a:lnTo>
                <a:lnTo>
                  <a:pt x="587705" y="223075"/>
                </a:lnTo>
                <a:lnTo>
                  <a:pt x="586359" y="224409"/>
                </a:lnTo>
                <a:lnTo>
                  <a:pt x="585025" y="225755"/>
                </a:lnTo>
                <a:lnTo>
                  <a:pt x="583476" y="226783"/>
                </a:lnTo>
                <a:lnTo>
                  <a:pt x="581723" y="227507"/>
                </a:lnTo>
                <a:lnTo>
                  <a:pt x="579983" y="228231"/>
                </a:lnTo>
                <a:lnTo>
                  <a:pt x="578154" y="228600"/>
                </a:lnTo>
                <a:lnTo>
                  <a:pt x="576262" y="228600"/>
                </a:lnTo>
                <a:lnTo>
                  <a:pt x="14287" y="228600"/>
                </a:lnTo>
                <a:lnTo>
                  <a:pt x="12395" y="228600"/>
                </a:lnTo>
                <a:lnTo>
                  <a:pt x="10566" y="228231"/>
                </a:lnTo>
                <a:lnTo>
                  <a:pt x="8826" y="227507"/>
                </a:lnTo>
                <a:lnTo>
                  <a:pt x="7073" y="226783"/>
                </a:lnTo>
                <a:lnTo>
                  <a:pt x="5524" y="225755"/>
                </a:lnTo>
                <a:lnTo>
                  <a:pt x="4178" y="224409"/>
                </a:lnTo>
                <a:lnTo>
                  <a:pt x="2844" y="223075"/>
                </a:lnTo>
                <a:lnTo>
                  <a:pt x="1816" y="221526"/>
                </a:lnTo>
                <a:lnTo>
                  <a:pt x="1092" y="219773"/>
                </a:lnTo>
                <a:lnTo>
                  <a:pt x="368" y="218033"/>
                </a:lnTo>
                <a:lnTo>
                  <a:pt x="0" y="216204"/>
                </a:lnTo>
                <a:lnTo>
                  <a:pt x="0" y="214312"/>
                </a:lnTo>
                <a:close/>
              </a:path>
            </a:pathLst>
          </a:custGeom>
          <a:ln w="9525">
            <a:solidFill>
              <a:srgbClr val="9FA9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047212" y="2341263"/>
            <a:ext cx="375285" cy="1612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spc="60">
                <a:solidFill>
                  <a:srgbClr val="9FA9BE"/>
                </a:solidFill>
                <a:latin typeface="Times New Roman"/>
                <a:cs typeface="Times New Roman"/>
              </a:rPr>
              <a:t>Partial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7200" y="2951001"/>
            <a:ext cx="11277600" cy="2298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89865">
              <a:lnSpc>
                <a:spcPct val="100000"/>
              </a:lnSpc>
              <a:tabLst>
                <a:tab pos="2537460" algn="l"/>
                <a:tab pos="5636260" algn="l"/>
                <a:tab pos="8592820" algn="l"/>
              </a:tabLst>
            </a:pPr>
            <a:r>
              <a:rPr dirty="0" sz="1300" spc="110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F4F4F6"/>
                </a:solidFill>
                <a:latin typeface="Times New Roman"/>
                <a:cs typeface="Times New Roman"/>
              </a:rPr>
              <a:t>B</a:t>
            </a:r>
            <a:r>
              <a:rPr dirty="0" sz="1300">
                <a:solidFill>
                  <a:srgbClr val="F4F4F6"/>
                </a:solidFill>
                <a:latin typeface="Times New Roman"/>
                <a:cs typeface="Times New Roman"/>
              </a:rPr>
              <a:t>	</a:t>
            </a:r>
            <a:r>
              <a:rPr dirty="0" sz="1250" spc="170">
                <a:solidFill>
                  <a:srgbClr val="F4F4F6"/>
                </a:solidFill>
                <a:latin typeface="Times New Roman"/>
                <a:cs typeface="Times New Roman"/>
              </a:rPr>
              <a:t>4.8</a:t>
            </a: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85">
                <a:solidFill>
                  <a:srgbClr val="F4F4F6"/>
                </a:solidFill>
                <a:latin typeface="Times New Roman"/>
                <a:cs typeface="Times New Roman"/>
              </a:rPr>
              <a:t>km</a:t>
            </a:r>
            <a:r>
              <a:rPr dirty="0" sz="1300" spc="-7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250" spc="16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250" spc="260">
                <a:solidFill>
                  <a:srgbClr val="F4F4F6"/>
                </a:solidFill>
                <a:latin typeface="Times New Roman"/>
                <a:cs typeface="Times New Roman"/>
              </a:rPr>
              <a:t>8</a:t>
            </a: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F4F4F6"/>
                </a:solidFill>
                <a:latin typeface="Times New Roman"/>
                <a:cs typeface="Times New Roman"/>
              </a:rPr>
              <a:t>min</a:t>
            </a:r>
            <a:r>
              <a:rPr dirty="0" sz="1300">
                <a:solidFill>
                  <a:srgbClr val="F4F4F6"/>
                </a:solidFill>
                <a:latin typeface="Times New Roman"/>
                <a:cs typeface="Times New Roman"/>
              </a:rPr>
              <a:t>	ICU</a:t>
            </a:r>
            <a:r>
              <a:rPr dirty="0" sz="1300" spc="3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F4F4F6"/>
                </a:solidFill>
                <a:latin typeface="Times New Roman"/>
                <a:cs typeface="Times New Roman"/>
              </a:rPr>
              <a:t>Available</a:t>
            </a:r>
            <a:r>
              <a:rPr dirty="0" sz="1300">
                <a:solidFill>
                  <a:srgbClr val="F4F4F6"/>
                </a:solidFill>
                <a:latin typeface="Times New Roman"/>
                <a:cs typeface="Times New Roman"/>
              </a:rPr>
              <a:t>	</a:t>
            </a:r>
            <a:r>
              <a:rPr dirty="0" sz="850" spc="70">
                <a:solidFill>
                  <a:srgbClr val="0A1224"/>
                </a:solidFill>
                <a:latin typeface="Times New Roman"/>
                <a:cs typeface="Times New Roman"/>
              </a:rPr>
              <a:t>STRONG</a:t>
            </a:r>
            <a:r>
              <a:rPr dirty="0" sz="850" spc="5">
                <a:solidFill>
                  <a:srgbClr val="0A1224"/>
                </a:solidFill>
                <a:latin typeface="Times New Roman"/>
                <a:cs typeface="Times New Roman"/>
              </a:rPr>
              <a:t> </a:t>
            </a:r>
            <a:r>
              <a:rPr dirty="0" sz="850" spc="40">
                <a:solidFill>
                  <a:srgbClr val="0A1224"/>
                </a:solidFill>
                <a:latin typeface="Times New Roman"/>
                <a:cs typeface="Times New Roman"/>
              </a:rPr>
              <a:t>MATCH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5000" y="3620952"/>
            <a:ext cx="85725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85">
                <a:solidFill>
                  <a:srgbClr val="F4F4F6"/>
                </a:solidFill>
                <a:latin typeface="Times New Roman"/>
                <a:cs typeface="Times New Roman"/>
              </a:rPr>
              <a:t>Hospital</a:t>
            </a:r>
            <a:r>
              <a:rPr dirty="0" sz="1300" spc="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F4F4F6"/>
                </a:solidFill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82163" y="3620952"/>
            <a:ext cx="124523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135">
                <a:solidFill>
                  <a:srgbClr val="F4F4F6"/>
                </a:solidFill>
                <a:latin typeface="Times New Roman"/>
                <a:cs typeface="Times New Roman"/>
              </a:rPr>
              <a:t>3.2</a:t>
            </a:r>
            <a:r>
              <a:rPr dirty="0" sz="1250" spc="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F4F4F6"/>
                </a:solidFill>
                <a:latin typeface="Times New Roman"/>
                <a:cs typeface="Times New Roman"/>
              </a:rPr>
              <a:t>km</a:t>
            </a: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250" spc="2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250" spc="65">
                <a:solidFill>
                  <a:srgbClr val="F4F4F6"/>
                </a:solidFill>
                <a:latin typeface="Times New Roman"/>
                <a:cs typeface="Times New Roman"/>
              </a:rPr>
              <a:t>14</a:t>
            </a:r>
            <a:r>
              <a:rPr dirty="0" sz="1250" spc="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min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81066" y="3620952"/>
            <a:ext cx="107823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210">
                <a:solidFill>
                  <a:srgbClr val="F4F4F6"/>
                </a:solidFill>
                <a:latin typeface="Times New Roman"/>
                <a:cs typeface="Times New Roman"/>
              </a:rPr>
              <a:t>I </a:t>
            </a:r>
            <a:r>
              <a:rPr dirty="0" sz="1300" spc="70">
                <a:solidFill>
                  <a:srgbClr val="F4F4F6"/>
                </a:solidFill>
                <a:latin typeface="Times New Roman"/>
                <a:cs typeface="Times New Roman"/>
              </a:rPr>
              <a:t>CU</a:t>
            </a:r>
            <a:r>
              <a:rPr dirty="0" sz="1300" spc="6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F4F4F6"/>
                </a:solidFill>
                <a:latin typeface="Times New Roman"/>
                <a:cs typeface="Times New Roman"/>
              </a:rPr>
              <a:t>Available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39212" y="3643312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0" y="214312"/>
                </a:moveTo>
                <a:lnTo>
                  <a:pt x="0" y="14287"/>
                </a:lnTo>
                <a:lnTo>
                  <a:pt x="0" y="12395"/>
                </a:lnTo>
                <a:lnTo>
                  <a:pt x="368" y="10566"/>
                </a:lnTo>
                <a:lnTo>
                  <a:pt x="1092" y="8826"/>
                </a:lnTo>
                <a:lnTo>
                  <a:pt x="1816" y="7073"/>
                </a:lnTo>
                <a:lnTo>
                  <a:pt x="2844" y="5524"/>
                </a:lnTo>
                <a:lnTo>
                  <a:pt x="4178" y="4178"/>
                </a:lnTo>
                <a:lnTo>
                  <a:pt x="5524" y="2844"/>
                </a:lnTo>
                <a:lnTo>
                  <a:pt x="7073" y="1816"/>
                </a:lnTo>
                <a:lnTo>
                  <a:pt x="8826" y="1092"/>
                </a:lnTo>
                <a:lnTo>
                  <a:pt x="10566" y="368"/>
                </a:lnTo>
                <a:lnTo>
                  <a:pt x="12395" y="0"/>
                </a:lnTo>
                <a:lnTo>
                  <a:pt x="14287" y="0"/>
                </a:lnTo>
                <a:lnTo>
                  <a:pt x="576262" y="0"/>
                </a:lnTo>
                <a:lnTo>
                  <a:pt x="578154" y="0"/>
                </a:lnTo>
                <a:lnTo>
                  <a:pt x="579983" y="368"/>
                </a:lnTo>
                <a:lnTo>
                  <a:pt x="581723" y="1092"/>
                </a:lnTo>
                <a:lnTo>
                  <a:pt x="583476" y="1816"/>
                </a:lnTo>
                <a:lnTo>
                  <a:pt x="585025" y="2844"/>
                </a:lnTo>
                <a:lnTo>
                  <a:pt x="586359" y="4178"/>
                </a:lnTo>
                <a:lnTo>
                  <a:pt x="587705" y="5524"/>
                </a:lnTo>
                <a:lnTo>
                  <a:pt x="588733" y="7073"/>
                </a:lnTo>
                <a:lnTo>
                  <a:pt x="589457" y="8826"/>
                </a:lnTo>
                <a:lnTo>
                  <a:pt x="590181" y="10566"/>
                </a:lnTo>
                <a:lnTo>
                  <a:pt x="590550" y="12395"/>
                </a:lnTo>
                <a:lnTo>
                  <a:pt x="590550" y="14287"/>
                </a:lnTo>
                <a:lnTo>
                  <a:pt x="590550" y="214312"/>
                </a:lnTo>
                <a:lnTo>
                  <a:pt x="590550" y="216204"/>
                </a:lnTo>
                <a:lnTo>
                  <a:pt x="590181" y="218033"/>
                </a:lnTo>
                <a:lnTo>
                  <a:pt x="589457" y="219773"/>
                </a:lnTo>
                <a:lnTo>
                  <a:pt x="588733" y="221526"/>
                </a:lnTo>
                <a:lnTo>
                  <a:pt x="587705" y="223075"/>
                </a:lnTo>
                <a:lnTo>
                  <a:pt x="586359" y="224409"/>
                </a:lnTo>
                <a:lnTo>
                  <a:pt x="585025" y="225755"/>
                </a:lnTo>
                <a:lnTo>
                  <a:pt x="583476" y="226783"/>
                </a:lnTo>
                <a:lnTo>
                  <a:pt x="581723" y="227507"/>
                </a:lnTo>
                <a:lnTo>
                  <a:pt x="579983" y="228231"/>
                </a:lnTo>
                <a:lnTo>
                  <a:pt x="578154" y="228600"/>
                </a:lnTo>
                <a:lnTo>
                  <a:pt x="576262" y="228600"/>
                </a:lnTo>
                <a:lnTo>
                  <a:pt x="14287" y="228600"/>
                </a:lnTo>
                <a:lnTo>
                  <a:pt x="12395" y="228600"/>
                </a:lnTo>
                <a:lnTo>
                  <a:pt x="10566" y="228231"/>
                </a:lnTo>
                <a:lnTo>
                  <a:pt x="8826" y="227507"/>
                </a:lnTo>
                <a:lnTo>
                  <a:pt x="7073" y="226783"/>
                </a:lnTo>
                <a:lnTo>
                  <a:pt x="1092" y="219773"/>
                </a:lnTo>
                <a:lnTo>
                  <a:pt x="368" y="218033"/>
                </a:lnTo>
                <a:lnTo>
                  <a:pt x="0" y="216204"/>
                </a:lnTo>
                <a:lnTo>
                  <a:pt x="0" y="214312"/>
                </a:lnTo>
                <a:close/>
              </a:path>
            </a:pathLst>
          </a:custGeom>
          <a:ln w="9525">
            <a:solidFill>
              <a:srgbClr val="9FA9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047212" y="3674763"/>
            <a:ext cx="375285" cy="1612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spc="60">
                <a:solidFill>
                  <a:srgbClr val="9FA9BE"/>
                </a:solidFill>
                <a:latin typeface="Times New Roman"/>
                <a:cs typeface="Times New Roman"/>
              </a:rPr>
              <a:t>Partial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4500" y="5692775"/>
            <a:ext cx="6293485" cy="716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E5FF"/>
                </a:solidFill>
                <a:latin typeface="Cambria"/>
                <a:cs typeface="Cambria"/>
              </a:rPr>
              <a:t>AI</a:t>
            </a:r>
            <a:r>
              <a:rPr dirty="0" sz="2400" spc="-40" b="1">
                <a:solidFill>
                  <a:srgbClr val="00E5F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00E5FF"/>
                </a:solidFill>
                <a:latin typeface="Cambria"/>
                <a:cs typeface="Cambria"/>
              </a:rPr>
              <a:t>Recommendation</a:t>
            </a:r>
            <a:r>
              <a:rPr dirty="0" sz="2400" spc="-10" b="1">
                <a:solidFill>
                  <a:srgbClr val="00E5FF"/>
                </a:solidFill>
                <a:latin typeface="Cambria"/>
                <a:cs typeface="Cambria"/>
              </a:rPr>
              <a:t> </a:t>
            </a:r>
            <a:r>
              <a:rPr dirty="0" sz="2400">
                <a:solidFill>
                  <a:srgbClr val="00E5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E5FF"/>
                </a:solidFill>
                <a:latin typeface="Cambria"/>
                <a:cs typeface="Cambria"/>
              </a:rPr>
              <a:t>Hospital</a:t>
            </a:r>
            <a:r>
              <a:rPr dirty="0" sz="2400" spc="-30" b="1">
                <a:solidFill>
                  <a:srgbClr val="00E5FF"/>
                </a:solidFill>
                <a:latin typeface="Cambria"/>
                <a:cs typeface="Cambria"/>
              </a:rPr>
              <a:t> </a:t>
            </a:r>
            <a:r>
              <a:rPr dirty="0" sz="2400" spc="-50" b="1">
                <a:solidFill>
                  <a:srgbClr val="00E5FF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300" spc="70">
                <a:solidFill>
                  <a:srgbClr val="9FA9BE"/>
                </a:solidFill>
                <a:latin typeface="Times New Roman"/>
                <a:cs typeface="Times New Roman"/>
              </a:rPr>
              <a:t>Prioritizing</a:t>
            </a:r>
            <a:r>
              <a:rPr dirty="0" sz="1300" spc="9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9FA9BE"/>
                </a:solidFill>
                <a:latin typeface="Times New Roman"/>
                <a:cs typeface="Times New Roman"/>
              </a:rPr>
              <a:t>treatment</a:t>
            </a:r>
            <a:r>
              <a:rPr dirty="0" sz="130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9FA9BE"/>
                </a:solidFill>
                <a:latin typeface="Times New Roman"/>
                <a:cs typeface="Times New Roman"/>
              </a:rPr>
              <a:t>capability</a:t>
            </a:r>
            <a:r>
              <a:rPr dirty="0" sz="1300" spc="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9FA9BE"/>
                </a:solidFill>
                <a:latin typeface="Times New Roman"/>
                <a:cs typeface="Times New Roman"/>
              </a:rPr>
              <a:t>and</a:t>
            </a:r>
            <a:r>
              <a:rPr dirty="0" sz="1300" spc="10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9FA9BE"/>
                </a:solidFill>
                <a:latin typeface="Times New Roman"/>
                <a:cs typeface="Times New Roman"/>
              </a:rPr>
              <a:t>fastest</a:t>
            </a:r>
            <a:r>
              <a:rPr dirty="0" sz="1300" spc="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9FA9BE"/>
                </a:solidFill>
                <a:latin typeface="Times New Roman"/>
                <a:cs typeface="Times New Roman"/>
              </a:rPr>
              <a:t>practical</a:t>
            </a:r>
            <a:r>
              <a:rPr dirty="0" sz="1300" spc="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9FA9BE"/>
                </a:solidFill>
                <a:latin typeface="Times New Roman"/>
                <a:cs typeface="Times New Roman"/>
              </a:rPr>
              <a:t>route</a:t>
            </a:r>
            <a:r>
              <a:rPr dirty="0" sz="1300" spc="105">
                <a:solidFill>
                  <a:srgbClr val="9FA9BE"/>
                </a:solidFill>
                <a:latin typeface="Times New Roman"/>
                <a:cs typeface="Times New Roman"/>
              </a:rPr>
              <a:t> over</a:t>
            </a:r>
            <a:r>
              <a:rPr dirty="0" sz="1300" spc="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9FA9BE"/>
                </a:solidFill>
                <a:latin typeface="Times New Roman"/>
                <a:cs typeface="Times New Roman"/>
              </a:rPr>
              <a:t>raw</a:t>
            </a:r>
            <a:r>
              <a:rPr dirty="0" sz="1300" spc="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9FA9BE"/>
                </a:solidFill>
                <a:latin typeface="Times New Roman"/>
                <a:cs typeface="Times New Roman"/>
              </a:rPr>
              <a:t>di</a:t>
            </a:r>
            <a:r>
              <a:rPr dirty="0" sz="1300" spc="155">
                <a:solidFill>
                  <a:srgbClr val="9FA9BE"/>
                </a:solidFill>
                <a:latin typeface="Times New Roman"/>
                <a:cs typeface="Times New Roman"/>
              </a:rPr>
              <a:t>s</a:t>
            </a:r>
            <a:r>
              <a:rPr dirty="0" sz="1300" spc="105">
                <a:solidFill>
                  <a:srgbClr val="9FA9BE"/>
                </a:solidFill>
                <a:latin typeface="Times New Roman"/>
                <a:cs typeface="Times New Roman"/>
              </a:rPr>
              <a:t>t</a:t>
            </a:r>
            <a:r>
              <a:rPr dirty="0" sz="1300" spc="145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300" spc="18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300" spc="90">
                <a:solidFill>
                  <a:srgbClr val="9FA9BE"/>
                </a:solidFill>
                <a:latin typeface="Times New Roman"/>
                <a:cs typeface="Times New Roman"/>
              </a:rPr>
              <a:t>c</a:t>
            </a:r>
            <a:r>
              <a:rPr dirty="0" sz="1300" spc="145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200" spc="11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When</a:t>
            </a:r>
            <a:r>
              <a:rPr dirty="0" spc="-114"/>
              <a:t> </a:t>
            </a:r>
            <a:r>
              <a:rPr dirty="0"/>
              <a:t>a</a:t>
            </a:r>
            <a:r>
              <a:rPr dirty="0" spc="-135"/>
              <a:t> </a:t>
            </a:r>
            <a:r>
              <a:rPr dirty="0"/>
              <a:t>life</a:t>
            </a:r>
            <a:r>
              <a:rPr dirty="0" spc="-95"/>
              <a:t> </a:t>
            </a:r>
            <a:r>
              <a:rPr dirty="0"/>
              <a:t>is</a:t>
            </a:r>
            <a:r>
              <a:rPr dirty="0" spc="-95"/>
              <a:t> </a:t>
            </a:r>
            <a:r>
              <a:rPr dirty="0"/>
              <a:t>at</a:t>
            </a:r>
            <a:r>
              <a:rPr dirty="0" spc="-75"/>
              <a:t> </a:t>
            </a:r>
            <a:r>
              <a:rPr dirty="0" spc="-20"/>
              <a:t>stake,</a:t>
            </a:r>
            <a:r>
              <a:rPr dirty="0" spc="-145"/>
              <a:t> </a:t>
            </a:r>
            <a:r>
              <a:rPr dirty="0"/>
              <a:t>trust</a:t>
            </a:r>
            <a:r>
              <a:rPr dirty="0" spc="-75"/>
              <a:t> </a:t>
            </a:r>
            <a:r>
              <a:rPr dirty="0"/>
              <a:t>cannot</a:t>
            </a:r>
            <a:r>
              <a:rPr dirty="0" spc="-75"/>
              <a:t> </a:t>
            </a:r>
            <a:r>
              <a:rPr dirty="0"/>
              <a:t>be</a:t>
            </a:r>
            <a:r>
              <a:rPr dirty="0" spc="-90"/>
              <a:t> </a:t>
            </a:r>
            <a:r>
              <a:rPr dirty="0" spc="-10"/>
              <a:t>optional.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638300"/>
            <a:ext cx="3552825" cy="4762500"/>
            <a:chOff x="457200" y="1638300"/>
            <a:chExt cx="3552825" cy="4762500"/>
          </a:xfrm>
        </p:grpSpPr>
        <p:sp>
          <p:nvSpPr>
            <p:cNvPr id="4" name="object 4"/>
            <p:cNvSpPr/>
            <p:nvPr/>
          </p:nvSpPr>
          <p:spPr>
            <a:xfrm>
              <a:off x="457200" y="1638300"/>
              <a:ext cx="3552825" cy="4762500"/>
            </a:xfrm>
            <a:custGeom>
              <a:avLst/>
              <a:gdLst/>
              <a:ahLst/>
              <a:cxnLst/>
              <a:rect l="l" t="t" r="r" b="b"/>
              <a:pathLst>
                <a:path w="3552825" h="4762500">
                  <a:moveTo>
                    <a:pt x="3552825" y="0"/>
                  </a:moveTo>
                  <a:lnTo>
                    <a:pt x="0" y="0"/>
                  </a:lnTo>
                  <a:lnTo>
                    <a:pt x="0" y="4762500"/>
                  </a:lnTo>
                  <a:lnTo>
                    <a:pt x="3552825" y="4762500"/>
                  </a:lnTo>
                  <a:lnTo>
                    <a:pt x="3552825" y="0"/>
                  </a:lnTo>
                  <a:close/>
                </a:path>
              </a:pathLst>
            </a:custGeom>
            <a:solidFill>
              <a:srgbClr val="1A25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2600325"/>
              <a:ext cx="114300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2981325"/>
              <a:ext cx="114300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3362325"/>
              <a:ext cx="114300" cy="1143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61962" y="1643062"/>
            <a:ext cx="3543300" cy="4752975"/>
          </a:xfrm>
          <a:prstGeom prst="rect">
            <a:avLst/>
          </a:prstGeom>
          <a:ln w="9525">
            <a:solidFill>
              <a:srgbClr val="2C3E4F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Times New Roman"/>
              <a:cs typeface="Times New Roman"/>
            </a:endParaRPr>
          </a:p>
          <a:p>
            <a:pPr marL="385445">
              <a:lnSpc>
                <a:spcPct val="100000"/>
              </a:lnSpc>
            </a:pPr>
            <a:r>
              <a:rPr dirty="0" sz="1800" b="1">
                <a:solidFill>
                  <a:srgbClr val="FFB200"/>
                </a:solidFill>
                <a:latin typeface="Cambria"/>
                <a:cs typeface="Cambria"/>
              </a:rPr>
              <a:t>Verifcation</a:t>
            </a:r>
            <a:r>
              <a:rPr dirty="0" sz="1800" spc="50" b="1">
                <a:solidFill>
                  <a:srgbClr val="FFB200"/>
                </a:solidFill>
                <a:latin typeface="Cambria"/>
                <a:cs typeface="Cambria"/>
              </a:rPr>
              <a:t>  </a:t>
            </a: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Journey</a:t>
            </a:r>
            <a:endParaRPr sz="1800">
              <a:latin typeface="Cambria"/>
              <a:cs typeface="Cambria"/>
            </a:endParaRPr>
          </a:p>
          <a:p>
            <a:pPr marL="652145">
              <a:lnSpc>
                <a:spcPct val="100000"/>
              </a:lnSpc>
              <a:spcBef>
                <a:spcPts val="1939"/>
              </a:spcBef>
            </a:pPr>
            <a:r>
              <a:rPr dirty="0" sz="1150" spc="70">
                <a:solidFill>
                  <a:srgbClr val="F4F4F6"/>
                </a:solidFill>
                <a:latin typeface="Times New Roman"/>
                <a:cs typeface="Times New Roman"/>
              </a:rPr>
              <a:t>License</a:t>
            </a:r>
            <a:r>
              <a:rPr dirty="0" sz="1150" spc="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r>
              <a:rPr dirty="0" sz="1100" spc="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75">
                <a:solidFill>
                  <a:srgbClr val="F4F4F6"/>
                </a:solidFill>
                <a:latin typeface="Times New Roman"/>
                <a:cs typeface="Times New Roman"/>
              </a:rPr>
              <a:t>Registration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652145">
              <a:lnSpc>
                <a:spcPct val="100000"/>
              </a:lnSpc>
            </a:pPr>
            <a:r>
              <a:rPr dirty="0" sz="1150" spc="65">
                <a:solidFill>
                  <a:srgbClr val="F4F4F6"/>
                </a:solidFill>
                <a:latin typeface="Times New Roman"/>
                <a:cs typeface="Times New Roman"/>
              </a:rPr>
              <a:t>Identity</a:t>
            </a:r>
            <a:r>
              <a:rPr dirty="0" sz="1150" spc="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F4F4F6"/>
                </a:solidFill>
                <a:latin typeface="Times New Roman"/>
                <a:cs typeface="Times New Roman"/>
              </a:rPr>
              <a:t>Verification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652145">
              <a:lnSpc>
                <a:spcPct val="100000"/>
              </a:lnSpc>
            </a:pPr>
            <a:r>
              <a:rPr dirty="0" sz="1150" spc="80">
                <a:solidFill>
                  <a:srgbClr val="F4F4F6"/>
                </a:solidFill>
                <a:latin typeface="Times New Roman"/>
                <a:cs typeface="Times New Roman"/>
              </a:rPr>
              <a:t>Admin</a:t>
            </a:r>
            <a:r>
              <a:rPr dirty="0" sz="1150" spc="9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45">
                <a:solidFill>
                  <a:srgbClr val="F4F4F6"/>
                </a:solidFill>
                <a:latin typeface="Times New Roman"/>
                <a:cs typeface="Times New Roman"/>
              </a:rPr>
              <a:t>Validation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575310" indent="-189865">
              <a:lnSpc>
                <a:spcPct val="100000"/>
              </a:lnSpc>
              <a:spcBef>
                <a:spcPts val="5"/>
              </a:spcBef>
              <a:buClr>
                <a:srgbClr val="00E5FF"/>
              </a:buClr>
              <a:buSzPct val="105000"/>
              <a:buFont typeface="Segoe UI Emoji"/>
              <a:buChar char="✓"/>
              <a:tabLst>
                <a:tab pos="575310" algn="l"/>
              </a:tabLst>
            </a:pPr>
            <a:r>
              <a:rPr dirty="0" sz="1000" spc="75">
                <a:solidFill>
                  <a:srgbClr val="9FA9BE"/>
                </a:solidFill>
                <a:latin typeface="Times New Roman"/>
                <a:cs typeface="Times New Roman"/>
              </a:rPr>
              <a:t>Registration</a:t>
            </a:r>
            <a:r>
              <a:rPr dirty="0" sz="1000" spc="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verified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 marL="575310" indent="-189865">
              <a:lnSpc>
                <a:spcPct val="100000"/>
              </a:lnSpc>
              <a:spcBef>
                <a:spcPts val="5"/>
              </a:spcBef>
              <a:buClr>
                <a:srgbClr val="00E5FF"/>
              </a:buClr>
              <a:buSzPct val="105000"/>
              <a:buFont typeface="Segoe UI Emoji"/>
              <a:buChar char="✓"/>
              <a:tabLst>
                <a:tab pos="575310" algn="l"/>
              </a:tabLst>
            </a:pP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Authorized</a:t>
            </a:r>
            <a:r>
              <a:rPr dirty="0" sz="1000" spc="15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9FA9BE"/>
                </a:solidFill>
                <a:latin typeface="Times New Roman"/>
                <a:cs typeface="Times New Roman"/>
              </a:rPr>
              <a:t>representative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14825" y="1638300"/>
            <a:ext cx="3562350" cy="4762500"/>
            <a:chOff x="4314825" y="1638300"/>
            <a:chExt cx="3562350" cy="4762500"/>
          </a:xfrm>
        </p:grpSpPr>
        <p:sp>
          <p:nvSpPr>
            <p:cNvPr id="10" name="object 10"/>
            <p:cNvSpPr/>
            <p:nvPr/>
          </p:nvSpPr>
          <p:spPr>
            <a:xfrm>
              <a:off x="4314825" y="1638300"/>
              <a:ext cx="3562350" cy="4762500"/>
            </a:xfrm>
            <a:custGeom>
              <a:avLst/>
              <a:gdLst/>
              <a:ahLst/>
              <a:cxnLst/>
              <a:rect l="l" t="t" r="r" b="b"/>
              <a:pathLst>
                <a:path w="3562350" h="4762500">
                  <a:moveTo>
                    <a:pt x="3562350" y="0"/>
                  </a:moveTo>
                  <a:lnTo>
                    <a:pt x="0" y="0"/>
                  </a:lnTo>
                  <a:lnTo>
                    <a:pt x="0" y="4762500"/>
                  </a:lnTo>
                  <a:lnTo>
                    <a:pt x="3562350" y="4762500"/>
                  </a:lnTo>
                  <a:lnTo>
                    <a:pt x="3562350" y="0"/>
                  </a:lnTo>
                  <a:close/>
                </a:path>
              </a:pathLst>
            </a:custGeom>
            <a:solidFill>
              <a:srgbClr val="1A25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5350" y="2600325"/>
              <a:ext cx="11430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5350" y="2981325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5350" y="3362325"/>
              <a:ext cx="114300" cy="1143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319587" y="1643062"/>
            <a:ext cx="3552825" cy="4752975"/>
          </a:xfrm>
          <a:prstGeom prst="rect">
            <a:avLst/>
          </a:prstGeom>
          <a:ln w="9525">
            <a:solidFill>
              <a:srgbClr val="2C3E4F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Times New Roman"/>
              <a:cs typeface="Times New Roman"/>
            </a:endParaRPr>
          </a:p>
          <a:p>
            <a:pPr marL="388620">
              <a:lnSpc>
                <a:spcPct val="100000"/>
              </a:lnSpc>
            </a:pPr>
            <a:r>
              <a:rPr dirty="0" sz="1800" b="1">
                <a:solidFill>
                  <a:srgbClr val="FFB200"/>
                </a:solidFill>
                <a:latin typeface="Cambria"/>
                <a:cs typeface="Cambria"/>
              </a:rPr>
              <a:t>Live</a:t>
            </a:r>
            <a:r>
              <a:rPr dirty="0" sz="1800" spc="105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Status</a:t>
            </a:r>
            <a:endParaRPr sz="1800">
              <a:latin typeface="Cambria"/>
              <a:cs typeface="Cambria"/>
            </a:endParaRPr>
          </a:p>
          <a:p>
            <a:pPr algn="just" marL="655320" marR="1695450">
              <a:lnSpc>
                <a:spcPct val="217400"/>
              </a:lnSpc>
              <a:spcBef>
                <a:spcPts val="320"/>
              </a:spcBef>
            </a:pPr>
            <a:r>
              <a:rPr dirty="0" sz="1150">
                <a:solidFill>
                  <a:srgbClr val="F4F4F6"/>
                </a:solidFill>
                <a:latin typeface="Times New Roman"/>
                <a:cs typeface="Times New Roman"/>
              </a:rPr>
              <a:t>Verified</a:t>
            </a:r>
            <a:r>
              <a:rPr dirty="0" sz="1150" spc="24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F4F4F6"/>
                </a:solidFill>
                <a:latin typeface="Times New Roman"/>
                <a:cs typeface="Times New Roman"/>
              </a:rPr>
              <a:t>&amp;</a:t>
            </a:r>
            <a:r>
              <a:rPr dirty="0" sz="1100" spc="10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45">
                <a:solidFill>
                  <a:srgbClr val="F4F4F6"/>
                </a:solidFill>
                <a:latin typeface="Times New Roman"/>
                <a:cs typeface="Times New Roman"/>
              </a:rPr>
              <a:t>Active </a:t>
            </a:r>
            <a:r>
              <a:rPr dirty="0" sz="1150" spc="105">
                <a:solidFill>
                  <a:srgbClr val="F4F4F6"/>
                </a:solidFill>
                <a:latin typeface="Times New Roman"/>
                <a:cs typeface="Times New Roman"/>
              </a:rPr>
              <a:t>Pending</a:t>
            </a:r>
            <a:r>
              <a:rPr dirty="0" sz="1150" spc="1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F4F4F6"/>
                </a:solidFill>
                <a:latin typeface="Times New Roman"/>
                <a:cs typeface="Times New Roman"/>
              </a:rPr>
              <a:t>Update </a:t>
            </a:r>
            <a:r>
              <a:rPr dirty="0" sz="1150" spc="120">
                <a:solidFill>
                  <a:srgbClr val="F4F4F6"/>
                </a:solidFill>
                <a:latin typeface="Times New Roman"/>
                <a:cs typeface="Times New Roman"/>
              </a:rPr>
              <a:t>Suspended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578485" indent="-189865">
              <a:lnSpc>
                <a:spcPct val="100000"/>
              </a:lnSpc>
              <a:buClr>
                <a:srgbClr val="00E5FF"/>
              </a:buClr>
              <a:buSzPct val="105000"/>
              <a:buFont typeface="Segoe UI Emoji"/>
              <a:buChar char="✓"/>
              <a:tabLst>
                <a:tab pos="578485" algn="l"/>
              </a:tabLst>
            </a:pPr>
            <a:r>
              <a:rPr dirty="0" sz="1000" spc="80">
                <a:solidFill>
                  <a:srgbClr val="9FA9BE"/>
                </a:solidFill>
                <a:latin typeface="Times New Roman"/>
                <a:cs typeface="Times New Roman"/>
              </a:rPr>
              <a:t>Emergency</a:t>
            </a:r>
            <a:r>
              <a:rPr dirty="0" sz="1000" spc="15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9FA9BE"/>
                </a:solidFill>
                <a:latin typeface="Times New Roman"/>
                <a:cs typeface="Times New Roman"/>
              </a:rPr>
              <a:t>facility</a:t>
            </a:r>
            <a:r>
              <a:rPr dirty="0" sz="1000" spc="1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9FA9BE"/>
                </a:solidFill>
                <a:latin typeface="Times New Roman"/>
                <a:cs typeface="Times New Roman"/>
              </a:rPr>
              <a:t>check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 marL="578485" indent="-189865">
              <a:lnSpc>
                <a:spcPct val="100000"/>
              </a:lnSpc>
              <a:buClr>
                <a:srgbClr val="00E5FF"/>
              </a:buClr>
              <a:buSzPct val="105000"/>
              <a:buFont typeface="Segoe UI Emoji"/>
              <a:buChar char="✓"/>
              <a:tabLst>
                <a:tab pos="578485" algn="l"/>
              </a:tabLst>
            </a:pP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Data</a:t>
            </a:r>
            <a:r>
              <a:rPr dirty="0" sz="1000" spc="1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9FA9BE"/>
                </a:solidFill>
                <a:latin typeface="Times New Roman"/>
                <a:cs typeface="Times New Roman"/>
              </a:rPr>
              <a:t>confidence</a:t>
            </a: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score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86737" y="1643062"/>
            <a:ext cx="3543300" cy="4752975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Times New Roman"/>
              <a:cs typeface="Times New Roman"/>
            </a:endParaRPr>
          </a:p>
          <a:p>
            <a:pPr marL="382270">
              <a:lnSpc>
                <a:spcPct val="100000"/>
              </a:lnSpc>
            </a:pPr>
            <a:r>
              <a:rPr dirty="0" sz="1800" b="1">
                <a:solidFill>
                  <a:srgbClr val="FFB200"/>
                </a:solidFill>
                <a:latin typeface="Cambria"/>
                <a:cs typeface="Cambria"/>
              </a:rPr>
              <a:t>Resource</a:t>
            </a:r>
            <a:r>
              <a:rPr dirty="0" sz="1800" spc="95" b="1">
                <a:solidFill>
                  <a:srgbClr val="FFB2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FFB200"/>
                </a:solidFill>
                <a:latin typeface="Cambria"/>
                <a:cs typeface="Cambria"/>
              </a:rPr>
              <a:t>Intelligence</a:t>
            </a:r>
            <a:endParaRPr sz="1800">
              <a:latin typeface="Cambria"/>
              <a:cs typeface="Cambria"/>
            </a:endParaRPr>
          </a:p>
          <a:p>
            <a:pPr marL="382270">
              <a:lnSpc>
                <a:spcPct val="100000"/>
              </a:lnSpc>
              <a:spcBef>
                <a:spcPts val="2065"/>
              </a:spcBef>
            </a:pPr>
            <a:r>
              <a:rPr dirty="0" sz="3350" spc="45">
                <a:solidFill>
                  <a:srgbClr val="00E5FF"/>
                </a:solidFill>
                <a:latin typeface="Times New Roman"/>
                <a:cs typeface="Times New Roman"/>
              </a:rPr>
              <a:t>VERIFIED</a:t>
            </a:r>
            <a:endParaRPr sz="3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50">
              <a:latin typeface="Times New Roman"/>
              <a:cs typeface="Times New Roman"/>
            </a:endParaRPr>
          </a:p>
          <a:p>
            <a:pPr marL="382270">
              <a:lnSpc>
                <a:spcPct val="100000"/>
              </a:lnSpc>
            </a:pPr>
            <a:r>
              <a:rPr dirty="0" sz="1000" spc="50">
                <a:solidFill>
                  <a:srgbClr val="9FA9BE"/>
                </a:solidFill>
                <a:latin typeface="Times New Roman"/>
                <a:cs typeface="Times New Roman"/>
              </a:rPr>
              <a:t>HOSPI</a:t>
            </a:r>
            <a:r>
              <a:rPr dirty="0" sz="1000" spc="-15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TAL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STATUS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572135" indent="-189865">
              <a:lnSpc>
                <a:spcPct val="100000"/>
              </a:lnSpc>
              <a:spcBef>
                <a:spcPts val="5"/>
              </a:spcBef>
              <a:buClr>
                <a:srgbClr val="00E5FF"/>
              </a:buClr>
              <a:buSzPct val="105000"/>
              <a:buFont typeface="Segoe UI Emoji"/>
              <a:buChar char="✓"/>
              <a:tabLst>
                <a:tab pos="572135" algn="l"/>
              </a:tabLst>
            </a:pPr>
            <a:r>
              <a:rPr dirty="0" sz="1000" spc="-165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000" spc="-1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9FA9BE"/>
                </a:solidFill>
                <a:latin typeface="Times New Roman"/>
                <a:cs typeface="Times New Roman"/>
              </a:rPr>
              <a:t>CU</a:t>
            </a:r>
            <a:r>
              <a:rPr dirty="0" sz="1000" spc="1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Availability</a:t>
            </a:r>
            <a:r>
              <a:rPr dirty="0" sz="950">
                <a:solidFill>
                  <a:srgbClr val="9FA9BE"/>
                </a:solidFill>
                <a:latin typeface="Times New Roman"/>
                <a:cs typeface="Times New Roman"/>
              </a:rPr>
              <a:t>:</a:t>
            </a:r>
            <a:r>
              <a:rPr dirty="0" sz="950" spc="2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950" spc="190">
                <a:solidFill>
                  <a:srgbClr val="9FA9BE"/>
                </a:solidFill>
                <a:latin typeface="Times New Roman"/>
                <a:cs typeface="Times New Roman"/>
              </a:rPr>
              <a:t>4</a:t>
            </a:r>
            <a:r>
              <a:rPr dirty="0" sz="950" spc="17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9FA9BE"/>
                </a:solidFill>
                <a:latin typeface="Times New Roman"/>
                <a:cs typeface="Times New Roman"/>
              </a:rPr>
              <a:t>Ready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 marL="572135" indent="-189865">
              <a:lnSpc>
                <a:spcPct val="100000"/>
              </a:lnSpc>
              <a:spcBef>
                <a:spcPts val="5"/>
              </a:spcBef>
              <a:buClr>
                <a:srgbClr val="00E5FF"/>
              </a:buClr>
              <a:buSzPct val="105000"/>
              <a:buFont typeface="Segoe UI Emoji"/>
              <a:buChar char="✓"/>
              <a:tabLst>
                <a:tab pos="572135" algn="l"/>
              </a:tabLst>
            </a:pPr>
            <a:r>
              <a:rPr dirty="0" sz="1000" spc="85">
                <a:solidFill>
                  <a:srgbClr val="9FA9BE"/>
                </a:solidFill>
                <a:latin typeface="Times New Roman"/>
                <a:cs typeface="Times New Roman"/>
              </a:rPr>
              <a:t>Oxygen</a:t>
            </a:r>
            <a:r>
              <a:rPr dirty="0" sz="950" spc="85">
                <a:solidFill>
                  <a:srgbClr val="9FA9BE"/>
                </a:solidFill>
                <a:latin typeface="Times New Roman"/>
                <a:cs typeface="Times New Roman"/>
              </a:rPr>
              <a:t>:</a:t>
            </a:r>
            <a:r>
              <a:rPr dirty="0" sz="950" spc="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Available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E5FF"/>
              </a:buClr>
              <a:buFont typeface="Segoe UI Emoji"/>
              <a:buChar char="✓"/>
            </a:pPr>
            <a:endParaRPr sz="100">
              <a:latin typeface="Times New Roman"/>
              <a:cs typeface="Times New Roman"/>
            </a:endParaRPr>
          </a:p>
          <a:p>
            <a:pPr marL="572135" indent="-189865">
              <a:lnSpc>
                <a:spcPct val="100000"/>
              </a:lnSpc>
              <a:spcBef>
                <a:spcPts val="5"/>
              </a:spcBef>
              <a:buClr>
                <a:srgbClr val="00E5FF"/>
              </a:buClr>
              <a:buSzPct val="105000"/>
              <a:buFont typeface="Segoe UI Emoji"/>
              <a:buChar char="✓"/>
              <a:tabLst>
                <a:tab pos="572135" algn="l"/>
              </a:tabLst>
            </a:pPr>
            <a:r>
              <a:rPr dirty="0" sz="1000" spc="100">
                <a:solidFill>
                  <a:srgbClr val="9FA9BE"/>
                </a:solidFill>
                <a:latin typeface="Times New Roman"/>
                <a:cs typeface="Times New Roman"/>
              </a:rPr>
              <a:t>Updated</a:t>
            </a:r>
            <a:r>
              <a:rPr dirty="0" sz="950" spc="100">
                <a:solidFill>
                  <a:srgbClr val="9FA9BE"/>
                </a:solidFill>
                <a:latin typeface="Times New Roman"/>
                <a:cs typeface="Times New Roman"/>
              </a:rPr>
              <a:t>:</a:t>
            </a:r>
            <a:r>
              <a:rPr dirty="0" sz="950" spc="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950" spc="130">
                <a:solidFill>
                  <a:srgbClr val="9FA9BE"/>
                </a:solidFill>
                <a:latin typeface="Times New Roman"/>
                <a:cs typeface="Times New Roman"/>
              </a:rPr>
              <a:t>5</a:t>
            </a:r>
            <a:r>
              <a:rPr dirty="0" sz="950" spc="5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9FA9BE"/>
                </a:solidFill>
                <a:latin typeface="Times New Roman"/>
                <a:cs typeface="Times New Roman"/>
              </a:rPr>
              <a:t>mins</a:t>
            </a:r>
            <a:r>
              <a:rPr dirty="0" sz="1000" spc="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9FA9BE"/>
                </a:solidFill>
                <a:latin typeface="Times New Roman"/>
                <a:cs typeface="Times New Roman"/>
              </a:rPr>
              <a:t>ago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0"/>
              <a:ext cx="7619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0"/>
              <a:ext cx="7620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1A2538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1482725"/>
            <a:ext cx="357314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The</a:t>
            </a:r>
            <a:r>
              <a:rPr dirty="0" sz="3000" spc="-35"/>
              <a:t> </a:t>
            </a:r>
            <a:r>
              <a:rPr dirty="0" sz="3000" spc="-20"/>
              <a:t>fastest</a:t>
            </a:r>
            <a:r>
              <a:rPr dirty="0" sz="3000" spc="-25"/>
              <a:t> </a:t>
            </a:r>
            <a:r>
              <a:rPr dirty="0" sz="3000" spc="-10"/>
              <a:t>practical route</a:t>
            </a:r>
            <a:r>
              <a:rPr dirty="0" sz="3000" spc="-40"/>
              <a:t> </a:t>
            </a:r>
            <a:r>
              <a:rPr dirty="0" sz="3000"/>
              <a:t>can</a:t>
            </a:r>
            <a:r>
              <a:rPr dirty="0" sz="3000" spc="10"/>
              <a:t> </a:t>
            </a:r>
            <a:r>
              <a:rPr dirty="0" sz="3000" spc="-20"/>
              <a:t>save </a:t>
            </a:r>
            <a:r>
              <a:rPr dirty="0" sz="3000"/>
              <a:t>precious</a:t>
            </a:r>
            <a:r>
              <a:rPr dirty="0" sz="3000" spc="-75"/>
              <a:t> </a:t>
            </a:r>
            <a:r>
              <a:rPr dirty="0" sz="3000" spc="-10"/>
              <a:t>minutes.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461962" y="3252787"/>
            <a:ext cx="3648075" cy="1314450"/>
          </a:xfrm>
          <a:prstGeom prst="rect">
            <a:avLst/>
          </a:prstGeom>
          <a:solidFill>
            <a:srgbClr val="0A1224"/>
          </a:solidFill>
          <a:ln w="9525">
            <a:solidFill>
              <a:srgbClr val="00E5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spc="-20">
                <a:solidFill>
                  <a:srgbClr val="9FA9BE"/>
                </a:solidFill>
                <a:latin typeface="Times New Roman"/>
                <a:cs typeface="Times New Roman"/>
              </a:rPr>
              <a:t>AI</a:t>
            </a:r>
            <a:r>
              <a:rPr dirty="0" sz="1000" spc="3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FA9BE"/>
                </a:solidFill>
                <a:latin typeface="Times New Roman"/>
                <a:cs typeface="Times New Roman"/>
              </a:rPr>
              <a:t>RECOMMENDED</a:t>
            </a:r>
            <a:r>
              <a:rPr dirty="0" sz="1000" spc="15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9FA9BE"/>
                </a:solidFill>
                <a:latin typeface="Times New Roman"/>
                <a:cs typeface="Times New Roman"/>
              </a:rPr>
              <a:t>ROUTE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2850" spc="484">
                <a:solidFill>
                  <a:srgbClr val="00E5FF"/>
                </a:solidFill>
                <a:latin typeface="Times New Roman"/>
                <a:cs typeface="Times New Roman"/>
              </a:rPr>
              <a:t>   </a:t>
            </a:r>
            <a:r>
              <a:rPr dirty="0" sz="2250" spc="459">
                <a:solidFill>
                  <a:srgbClr val="00E5FF"/>
                </a:solidFill>
                <a:latin typeface="Times New Roman"/>
                <a:cs typeface="Times New Roman"/>
              </a:rPr>
              <a:t>8</a:t>
            </a:r>
            <a:r>
              <a:rPr dirty="0" sz="2250" spc="2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2350" spc="150">
                <a:solidFill>
                  <a:srgbClr val="00E5FF"/>
                </a:solidFill>
                <a:latin typeface="Times New Roman"/>
                <a:cs typeface="Times New Roman"/>
              </a:rPr>
              <a:t>min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5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spc="70">
                <a:solidFill>
                  <a:srgbClr val="4CAE4F"/>
                </a:solidFill>
                <a:latin typeface="Times New Roman"/>
                <a:cs typeface="Times New Roman"/>
              </a:rPr>
              <a:t>Low</a:t>
            </a:r>
            <a:r>
              <a:rPr dirty="0" sz="1000" spc="-15">
                <a:solidFill>
                  <a:srgbClr val="4CAE4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4CAE4F"/>
                </a:solidFill>
                <a:latin typeface="Times New Roman"/>
                <a:cs typeface="Times New Roman"/>
              </a:rPr>
              <a:t>Traffic</a:t>
            </a:r>
            <a:r>
              <a:rPr dirty="0" sz="1000" spc="75">
                <a:solidFill>
                  <a:srgbClr val="4CAE4F"/>
                </a:solidFill>
                <a:latin typeface="Times New Roman"/>
                <a:cs typeface="Times New Roman"/>
              </a:rPr>
              <a:t> </a:t>
            </a:r>
            <a:r>
              <a:rPr dirty="0" sz="300" spc="335">
                <a:solidFill>
                  <a:srgbClr val="4CAE4F"/>
                </a:solidFill>
                <a:latin typeface="Times New Roman"/>
                <a:cs typeface="Times New Roman"/>
              </a:rPr>
              <a:t>•</a:t>
            </a:r>
            <a:r>
              <a:rPr dirty="0" sz="300" spc="365">
                <a:solidFill>
                  <a:srgbClr val="4CAE4F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4CAE4F"/>
                </a:solidFill>
                <a:latin typeface="Times New Roman"/>
                <a:cs typeface="Times New Roman"/>
              </a:rPr>
              <a:t>Optimized</a:t>
            </a:r>
            <a:r>
              <a:rPr dirty="0" sz="1000" spc="140">
                <a:solidFill>
                  <a:srgbClr val="4CAE4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4CAE4F"/>
                </a:solidFill>
                <a:latin typeface="Times New Roman"/>
                <a:cs typeface="Times New Roman"/>
              </a:rPr>
              <a:t>for</a:t>
            </a:r>
            <a:r>
              <a:rPr dirty="0" sz="1000" spc="40">
                <a:solidFill>
                  <a:srgbClr val="4CAE4F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4CAE4F"/>
                </a:solidFill>
                <a:latin typeface="Times New Roman"/>
                <a:cs typeface="Times New Roman"/>
              </a:rPr>
              <a:t>Emergency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4753913"/>
            <a:ext cx="3682365" cy="5086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02940" algn="l"/>
              </a:tabLst>
            </a:pPr>
            <a:r>
              <a:rPr dirty="0" sz="1150" spc="50">
                <a:solidFill>
                  <a:srgbClr val="9FA9BE"/>
                </a:solidFill>
                <a:latin typeface="Times New Roman"/>
                <a:cs typeface="Times New Roman"/>
              </a:rPr>
              <a:t>Main</a:t>
            </a:r>
            <a:r>
              <a:rPr dirty="0" sz="1150" spc="10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9FA9BE"/>
                </a:solidFill>
                <a:latin typeface="Times New Roman"/>
                <a:cs typeface="Times New Roman"/>
              </a:rPr>
              <a:t>Road</a:t>
            </a:r>
            <a:r>
              <a:rPr dirty="0" sz="1150">
                <a:solidFill>
                  <a:srgbClr val="9FA9BE"/>
                </a:solidFill>
                <a:latin typeface="Times New Roman"/>
                <a:cs typeface="Times New Roman"/>
              </a:rPr>
              <a:t>	</a:t>
            </a:r>
            <a:r>
              <a:rPr dirty="0" sz="1150" spc="-170">
                <a:solidFill>
                  <a:srgbClr val="9FA9BE"/>
                </a:solidFill>
                <a:latin typeface="Times New Roman"/>
                <a:cs typeface="Times New Roman"/>
              </a:rPr>
              <a:t>1</a:t>
            </a:r>
            <a:r>
              <a:rPr dirty="0" sz="1150" spc="-1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55">
                <a:solidFill>
                  <a:srgbClr val="9FA9BE"/>
                </a:solidFill>
                <a:latin typeface="Times New Roman"/>
                <a:cs typeface="Times New Roman"/>
              </a:rPr>
              <a:t>8</a:t>
            </a:r>
            <a:r>
              <a:rPr dirty="0" sz="1150" spc="1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min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02940" algn="l"/>
              </a:tabLst>
            </a:pPr>
            <a:r>
              <a:rPr dirty="0" sz="1150" spc="75">
                <a:solidFill>
                  <a:srgbClr val="9FA9BE"/>
                </a:solidFill>
                <a:latin typeface="Times New Roman"/>
                <a:cs typeface="Times New Roman"/>
              </a:rPr>
              <a:t>Highway</a:t>
            </a:r>
            <a:r>
              <a:rPr dirty="0" sz="1150">
                <a:solidFill>
                  <a:srgbClr val="9FA9BE"/>
                </a:solidFill>
                <a:latin typeface="Times New Roman"/>
                <a:cs typeface="Times New Roman"/>
              </a:rPr>
              <a:t>	</a:t>
            </a:r>
            <a:r>
              <a:rPr dirty="0" sz="1150" spc="-170">
                <a:solidFill>
                  <a:srgbClr val="9FA9BE"/>
                </a:solidFill>
                <a:latin typeface="Times New Roman"/>
                <a:cs typeface="Times New Roman"/>
              </a:rPr>
              <a:t>1</a:t>
            </a:r>
            <a:r>
              <a:rPr dirty="0" sz="1150" spc="-1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125">
                <a:solidFill>
                  <a:srgbClr val="9FA9BE"/>
                </a:solidFill>
                <a:latin typeface="Times New Roman"/>
                <a:cs typeface="Times New Roman"/>
              </a:rPr>
              <a:t>2</a:t>
            </a:r>
            <a:r>
              <a:rPr dirty="0" sz="1150" spc="1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150" spc="65">
                <a:solidFill>
                  <a:srgbClr val="9FA9BE"/>
                </a:solidFill>
                <a:latin typeface="Times New Roman"/>
                <a:cs typeface="Times New Roman"/>
              </a:rPr>
              <a:t>min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Where</a:t>
            </a:r>
            <a:r>
              <a:rPr dirty="0" spc="-135"/>
              <a:t> </a:t>
            </a:r>
            <a:r>
              <a:rPr dirty="0"/>
              <a:t>AI</a:t>
            </a:r>
            <a:r>
              <a:rPr dirty="0" spc="-100"/>
              <a:t> </a:t>
            </a:r>
            <a:r>
              <a:rPr dirty="0" spc="-10"/>
              <a:t>becomes</a:t>
            </a:r>
            <a:r>
              <a:rPr dirty="0" spc="-30"/>
              <a:t> </a:t>
            </a:r>
            <a:r>
              <a:rPr dirty="0"/>
              <a:t>useful</a:t>
            </a:r>
            <a:r>
              <a:rPr dirty="0" spc="-10"/>
              <a:t> </a:t>
            </a:r>
            <a:r>
              <a:rPr dirty="0" spc="-400"/>
              <a:t>—</a:t>
            </a:r>
            <a:r>
              <a:rPr dirty="0" spc="35"/>
              <a:t> </a:t>
            </a:r>
            <a:r>
              <a:rPr dirty="0"/>
              <a:t>not</a:t>
            </a:r>
            <a:r>
              <a:rPr dirty="0" spc="-5"/>
              <a:t> </a:t>
            </a:r>
            <a:r>
              <a:rPr dirty="0"/>
              <a:t>just</a:t>
            </a:r>
            <a:r>
              <a:rPr dirty="0" spc="-5"/>
              <a:t> </a:t>
            </a:r>
            <a:r>
              <a:rPr dirty="0" spc="-10"/>
              <a:t>impressive.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1425" y="6182980"/>
            <a:ext cx="7160259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300" spc="110">
                <a:solidFill>
                  <a:srgbClr val="9FA9BE"/>
                </a:solidFill>
                <a:latin typeface="Times New Roman"/>
                <a:cs typeface="Times New Roman"/>
              </a:rPr>
              <a:t>Coordinating</a:t>
            </a:r>
            <a:r>
              <a:rPr dirty="0" sz="1300" spc="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9FA9BE"/>
                </a:solidFill>
                <a:latin typeface="Times New Roman"/>
                <a:cs typeface="Times New Roman"/>
              </a:rPr>
              <a:t>Patient</a:t>
            </a:r>
            <a:r>
              <a:rPr dirty="0" sz="1300" spc="45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9FA9BE"/>
                </a:solidFill>
                <a:latin typeface="Times New Roman"/>
                <a:cs typeface="Times New Roman"/>
              </a:rPr>
              <a:t>Hospital</a:t>
            </a:r>
            <a:r>
              <a:rPr dirty="0" sz="1300" spc="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9FA9BE"/>
                </a:solidFill>
                <a:latin typeface="Times New Roman"/>
                <a:cs typeface="Times New Roman"/>
              </a:rPr>
              <a:t>Staff</a:t>
            </a:r>
            <a:r>
              <a:rPr dirty="0" sz="1300" spc="3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9FA9BE"/>
                </a:solidFill>
                <a:latin typeface="Times New Roman"/>
                <a:cs typeface="Times New Roman"/>
              </a:rPr>
              <a:t>and</a:t>
            </a:r>
            <a:r>
              <a:rPr dirty="0" sz="1300" spc="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9FA9BE"/>
                </a:solidFill>
                <a:latin typeface="Times New Roman"/>
                <a:cs typeface="Times New Roman"/>
              </a:rPr>
              <a:t>Emergency</a:t>
            </a:r>
            <a:r>
              <a:rPr dirty="0" sz="1300" spc="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9FA9BE"/>
                </a:solidFill>
                <a:latin typeface="Times New Roman"/>
                <a:cs typeface="Times New Roman"/>
              </a:rPr>
              <a:t>Responders</a:t>
            </a:r>
            <a:r>
              <a:rPr dirty="0" sz="1300" spc="11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in</a:t>
            </a:r>
            <a:r>
              <a:rPr dirty="0" sz="1300" spc="14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9FA9BE"/>
                </a:solidFill>
                <a:latin typeface="Times New Roman"/>
                <a:cs typeface="Times New Roman"/>
              </a:rPr>
              <a:t>one</a:t>
            </a:r>
            <a:r>
              <a:rPr dirty="0" sz="1300" spc="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9FA9BE"/>
                </a:solidFill>
                <a:latin typeface="Times New Roman"/>
                <a:cs typeface="Times New Roman"/>
              </a:rPr>
              <a:t>unified</a:t>
            </a:r>
            <a:r>
              <a:rPr dirty="0" sz="1300" spc="10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9FA9BE"/>
                </a:solidFill>
                <a:latin typeface="Times New Roman"/>
                <a:cs typeface="Times New Roman"/>
              </a:rPr>
              <a:t>journey</a:t>
            </a:r>
            <a:endParaRPr sz="1300">
              <a:latin typeface="Times New Roman"/>
              <a:cs typeface="Times New Roman"/>
            </a:endParaRPr>
          </a:p>
          <a:p>
            <a:pPr marL="1679575">
              <a:lnSpc>
                <a:spcPts val="160"/>
              </a:lnSpc>
              <a:tabLst>
                <a:tab pos="2860040" algn="l"/>
                <a:tab pos="7108190" algn="l"/>
              </a:tabLst>
            </a:pPr>
            <a:r>
              <a:rPr dirty="0" sz="400" spc="145">
                <a:solidFill>
                  <a:srgbClr val="9FA9BE"/>
                </a:solidFill>
                <a:latin typeface="Times New Roman"/>
                <a:cs typeface="Times New Roman"/>
              </a:rPr>
              <a:t>,</a:t>
            </a:r>
            <a:r>
              <a:rPr dirty="0" sz="400">
                <a:solidFill>
                  <a:srgbClr val="9FA9BE"/>
                </a:solidFill>
                <a:latin typeface="Times New Roman"/>
                <a:cs typeface="Times New Roman"/>
              </a:rPr>
              <a:t>	</a:t>
            </a:r>
            <a:r>
              <a:rPr dirty="0" sz="400" spc="145">
                <a:solidFill>
                  <a:srgbClr val="9FA9BE"/>
                </a:solidFill>
                <a:latin typeface="Times New Roman"/>
                <a:cs typeface="Times New Roman"/>
              </a:rPr>
              <a:t>,</a:t>
            </a:r>
            <a:r>
              <a:rPr dirty="0" sz="400">
                <a:solidFill>
                  <a:srgbClr val="9FA9BE"/>
                </a:solidFill>
                <a:latin typeface="Times New Roman"/>
                <a:cs typeface="Times New Roman"/>
              </a:rPr>
              <a:t>	</a:t>
            </a:r>
            <a:r>
              <a:rPr dirty="0" sz="400" spc="15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2700" y="3629025"/>
            <a:ext cx="838200" cy="9525"/>
          </a:xfrm>
          <a:custGeom>
            <a:avLst/>
            <a:gdLst/>
            <a:ahLst/>
            <a:cxnLst/>
            <a:rect l="l" t="t" r="r" b="b"/>
            <a:pathLst>
              <a:path w="838200" h="9525">
                <a:moveTo>
                  <a:pt x="838200" y="0"/>
                </a:moveTo>
                <a:lnTo>
                  <a:pt x="0" y="0"/>
                </a:lnTo>
                <a:lnTo>
                  <a:pt x="0" y="9525"/>
                </a:lnTo>
                <a:lnTo>
                  <a:pt x="838200" y="9525"/>
                </a:lnTo>
                <a:lnTo>
                  <a:pt x="838200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25800" y="3521075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C3E4F"/>
                </a:solidFill>
                <a:latin typeface="Microsoft Sans Serif"/>
                <a:cs typeface="Microsoft Sans Serif"/>
              </a:rPr>
              <a:t>→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86400" y="3629025"/>
            <a:ext cx="838200" cy="9525"/>
          </a:xfrm>
          <a:custGeom>
            <a:avLst/>
            <a:gdLst/>
            <a:ahLst/>
            <a:cxnLst/>
            <a:rect l="l" t="t" r="r" b="b"/>
            <a:pathLst>
              <a:path w="838200" h="9525">
                <a:moveTo>
                  <a:pt x="838200" y="0"/>
                </a:moveTo>
                <a:lnTo>
                  <a:pt x="0" y="0"/>
                </a:lnTo>
                <a:lnTo>
                  <a:pt x="0" y="9525"/>
                </a:lnTo>
                <a:lnTo>
                  <a:pt x="838200" y="9525"/>
                </a:lnTo>
                <a:lnTo>
                  <a:pt x="838200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59500" y="3521075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C3E4F"/>
                </a:solidFill>
                <a:latin typeface="Microsoft Sans Serif"/>
                <a:cs typeface="Microsoft Sans Serif"/>
              </a:rPr>
              <a:t>→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01100" y="3629025"/>
            <a:ext cx="838200" cy="9525"/>
          </a:xfrm>
          <a:custGeom>
            <a:avLst/>
            <a:gdLst/>
            <a:ahLst/>
            <a:cxnLst/>
            <a:rect l="l" t="t" r="r" b="b"/>
            <a:pathLst>
              <a:path w="838200" h="9525">
                <a:moveTo>
                  <a:pt x="838200" y="0"/>
                </a:moveTo>
                <a:lnTo>
                  <a:pt x="0" y="0"/>
                </a:lnTo>
                <a:lnTo>
                  <a:pt x="0" y="9525"/>
                </a:lnTo>
                <a:lnTo>
                  <a:pt x="838200" y="9525"/>
                </a:lnTo>
                <a:lnTo>
                  <a:pt x="838200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74200" y="3521075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C3E4F"/>
                </a:solidFill>
                <a:latin typeface="Microsoft Sans Serif"/>
                <a:cs typeface="Microsoft Sans Serif"/>
              </a:rPr>
              <a:t>→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962" y="2994421"/>
            <a:ext cx="2085975" cy="1277620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marL="594995">
              <a:lnSpc>
                <a:spcPct val="100000"/>
              </a:lnSpc>
            </a:pPr>
            <a:r>
              <a:rPr dirty="0" sz="1000" spc="130">
                <a:solidFill>
                  <a:srgbClr val="00E5FF"/>
                </a:solidFill>
                <a:latin typeface="Times New Roman"/>
                <a:cs typeface="Times New Roman"/>
              </a:rPr>
              <a:t>F</a:t>
            </a:r>
            <a:r>
              <a:rPr dirty="0" sz="1000" spc="-11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 spc="135">
                <a:solidFill>
                  <a:srgbClr val="00E5FF"/>
                </a:solidFill>
                <a:latin typeface="Times New Roman"/>
                <a:cs typeface="Times New Roman"/>
              </a:rPr>
              <a:t>RO</a:t>
            </a:r>
            <a:r>
              <a:rPr dirty="0" sz="1000" spc="-9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E5FF"/>
                </a:solidFill>
                <a:latin typeface="Times New Roman"/>
                <a:cs typeface="Times New Roman"/>
              </a:rPr>
              <a:t>N</a:t>
            </a:r>
            <a:r>
              <a:rPr dirty="0" sz="1000" spc="-5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00E5FF"/>
                </a:solidFill>
                <a:latin typeface="Times New Roman"/>
                <a:cs typeface="Times New Roman"/>
              </a:rPr>
              <a:t>TE</a:t>
            </a:r>
            <a:r>
              <a:rPr dirty="0" sz="1000" spc="-3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E5FF"/>
                </a:solidFill>
                <a:latin typeface="Times New Roman"/>
                <a:cs typeface="Times New Roman"/>
              </a:rPr>
              <a:t>N</a:t>
            </a:r>
            <a:r>
              <a:rPr dirty="0" sz="1000" spc="-50">
                <a:solidFill>
                  <a:srgbClr val="00E5FF"/>
                </a:solidFill>
                <a:latin typeface="Times New Roman"/>
                <a:cs typeface="Times New Roman"/>
              </a:rPr>
              <a:t> 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50">
                <a:solidFill>
                  <a:srgbClr val="F4F4F6"/>
                </a:solidFill>
                <a:latin typeface="Times New Roman"/>
                <a:cs typeface="Times New Roman"/>
              </a:rPr>
              <a:t>HTML5</a:t>
            </a:r>
            <a:r>
              <a:rPr dirty="0" sz="1150" spc="2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150" spc="27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160">
                <a:solidFill>
                  <a:srgbClr val="F4F4F6"/>
                </a:solidFill>
                <a:latin typeface="Times New Roman"/>
                <a:cs typeface="Times New Roman"/>
              </a:rPr>
              <a:t>CSS3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</a:pPr>
            <a:r>
              <a:rPr dirty="0" sz="1150" spc="100">
                <a:solidFill>
                  <a:srgbClr val="F4F4F6"/>
                </a:solidFill>
                <a:latin typeface="Times New Roman"/>
                <a:cs typeface="Times New Roman"/>
              </a:rPr>
              <a:t>JavaScript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5662" y="2994421"/>
            <a:ext cx="2085975" cy="1280160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8255">
              <a:lnSpc>
                <a:spcPct val="100000"/>
              </a:lnSpc>
            </a:pPr>
            <a:r>
              <a:rPr dirty="0" sz="1000" spc="85">
                <a:solidFill>
                  <a:srgbClr val="00E5FF"/>
                </a:solidFill>
                <a:latin typeface="Times New Roman"/>
                <a:cs typeface="Times New Roman"/>
              </a:rPr>
              <a:t>B</a:t>
            </a:r>
            <a:r>
              <a:rPr dirty="0" sz="1000" spc="-130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 spc="125">
                <a:solidFill>
                  <a:srgbClr val="00E5FF"/>
                </a:solidFill>
                <a:latin typeface="Times New Roman"/>
                <a:cs typeface="Times New Roman"/>
              </a:rPr>
              <a:t>ACK</a:t>
            </a:r>
            <a:r>
              <a:rPr dirty="0" sz="1000" spc="-13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E5FF"/>
                </a:solidFill>
                <a:latin typeface="Times New Roman"/>
                <a:cs typeface="Times New Roman"/>
              </a:rPr>
              <a:t>E</a:t>
            </a:r>
            <a:r>
              <a:rPr dirty="0" sz="1000" spc="-4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E5FF"/>
                </a:solidFill>
                <a:latin typeface="Times New Roman"/>
                <a:cs typeface="Times New Roman"/>
              </a:rPr>
              <a:t>N</a:t>
            </a:r>
            <a:r>
              <a:rPr dirty="0" sz="1000" spc="-55">
                <a:solidFill>
                  <a:srgbClr val="00E5FF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00E5FF"/>
                </a:solidFill>
                <a:latin typeface="Times New Roman"/>
                <a:cs typeface="Times New Roman"/>
              </a:rPr>
              <a:t>D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</a:pPr>
            <a:r>
              <a:rPr dirty="0" sz="1150" spc="120">
                <a:solidFill>
                  <a:srgbClr val="F4F4F6"/>
                </a:solidFill>
                <a:latin typeface="Times New Roman"/>
                <a:cs typeface="Times New Roman"/>
              </a:rPr>
              <a:t>Python</a:t>
            </a:r>
            <a:r>
              <a:rPr dirty="0" sz="1150" spc="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150" spc="20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F4F4F6"/>
                </a:solidFill>
                <a:latin typeface="Times New Roman"/>
                <a:cs typeface="Times New Roman"/>
              </a:rPr>
              <a:t>Flask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1270">
              <a:lnSpc>
                <a:spcPct val="100000"/>
              </a:lnSpc>
            </a:pPr>
            <a:r>
              <a:rPr dirty="0" sz="1150" spc="75">
                <a:solidFill>
                  <a:srgbClr val="F4F4F6"/>
                </a:solidFill>
                <a:latin typeface="Times New Roman"/>
                <a:cs typeface="Times New Roman"/>
              </a:rPr>
              <a:t>REST</a:t>
            </a:r>
            <a:r>
              <a:rPr dirty="0" sz="1150" spc="5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F4F4F6"/>
                </a:solidFill>
                <a:latin typeface="Times New Roman"/>
                <a:cs typeface="Times New Roman"/>
              </a:rPr>
              <a:t>API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34125" y="2994421"/>
            <a:ext cx="2457450" cy="1278890"/>
          </a:xfrm>
          <a:prstGeom prst="rect">
            <a:avLst/>
          </a:prstGeom>
          <a:solidFill>
            <a:srgbClr val="FFB200">
              <a:alpha val="5099"/>
            </a:srgbClr>
          </a:solidFill>
          <a:ln w="19050">
            <a:solidFill>
              <a:srgbClr val="FFB2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4445">
              <a:lnSpc>
                <a:spcPct val="100000"/>
              </a:lnSpc>
            </a:pPr>
            <a:r>
              <a:rPr dirty="0" sz="950">
                <a:solidFill>
                  <a:srgbClr val="FFB200"/>
                </a:solidFill>
                <a:latin typeface="Times New Roman"/>
                <a:cs typeface="Times New Roman"/>
              </a:rPr>
              <a:t>AI</a:t>
            </a:r>
            <a:r>
              <a:rPr dirty="0" sz="950" spc="385">
                <a:solidFill>
                  <a:srgbClr val="FFB200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FFB200"/>
                </a:solidFill>
                <a:latin typeface="Times New Roman"/>
                <a:cs typeface="Times New Roman"/>
              </a:rPr>
              <a:t>L</a:t>
            </a:r>
            <a:r>
              <a:rPr dirty="0" sz="950" spc="-80">
                <a:solidFill>
                  <a:srgbClr val="FFB200"/>
                </a:solidFill>
                <a:latin typeface="Times New Roman"/>
                <a:cs typeface="Times New Roman"/>
              </a:rPr>
              <a:t> </a:t>
            </a:r>
            <a:r>
              <a:rPr dirty="0" sz="950" spc="105">
                <a:solidFill>
                  <a:srgbClr val="FFB200"/>
                </a:solidFill>
                <a:latin typeface="Times New Roman"/>
                <a:cs typeface="Times New Roman"/>
              </a:rPr>
              <a:t>AYE</a:t>
            </a:r>
            <a:r>
              <a:rPr dirty="0" sz="950" spc="-35">
                <a:solidFill>
                  <a:srgbClr val="FFB200"/>
                </a:solidFill>
                <a:latin typeface="Times New Roman"/>
                <a:cs typeface="Times New Roman"/>
              </a:rPr>
              <a:t> </a:t>
            </a:r>
            <a:r>
              <a:rPr dirty="0" sz="950" spc="90">
                <a:solidFill>
                  <a:srgbClr val="FFB200"/>
                </a:solidFill>
                <a:latin typeface="Times New Roman"/>
                <a:cs typeface="Times New Roman"/>
              </a:rPr>
              <a:t>R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1270">
              <a:lnSpc>
                <a:spcPct val="100000"/>
              </a:lnSpc>
            </a:pPr>
            <a:r>
              <a:rPr dirty="0" sz="1150">
                <a:solidFill>
                  <a:srgbClr val="F4F4F6"/>
                </a:solidFill>
                <a:latin typeface="Times New Roman"/>
                <a:cs typeface="Times New Roman"/>
              </a:rPr>
              <a:t>IBM</a:t>
            </a:r>
            <a:r>
              <a:rPr dirty="0" sz="1150" spc="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F4F4F6"/>
                </a:solidFill>
                <a:latin typeface="Times New Roman"/>
                <a:cs typeface="Times New Roman"/>
              </a:rPr>
              <a:t>BoB</a:t>
            </a:r>
            <a:r>
              <a:rPr dirty="0" sz="1150" spc="4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175">
                <a:solidFill>
                  <a:srgbClr val="F4F4F6"/>
                </a:solidFill>
                <a:latin typeface="Times New Roman"/>
                <a:cs typeface="Times New Roman"/>
              </a:rPr>
              <a:t>/</a:t>
            </a:r>
            <a:r>
              <a:rPr dirty="0" sz="1150" spc="8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-35">
                <a:solidFill>
                  <a:srgbClr val="F4F4F6"/>
                </a:solidFill>
                <a:latin typeface="Times New Roman"/>
                <a:cs typeface="Times New Roman"/>
              </a:rPr>
              <a:t>AI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</a:pPr>
            <a:r>
              <a:rPr dirty="0" sz="1150" spc="75">
                <a:solidFill>
                  <a:srgbClr val="F4F4F6"/>
                </a:solidFill>
                <a:latin typeface="Times New Roman"/>
                <a:cs typeface="Times New Roman"/>
              </a:rPr>
              <a:t>Decision</a:t>
            </a:r>
            <a:r>
              <a:rPr dirty="0" sz="1150" spc="1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120">
                <a:solidFill>
                  <a:srgbClr val="F4F4F6"/>
                </a:solidFill>
                <a:latin typeface="Times New Roman"/>
                <a:cs typeface="Times New Roman"/>
              </a:rPr>
              <a:t>Support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44062" y="2994421"/>
            <a:ext cx="2085975" cy="1278890"/>
          </a:xfrm>
          <a:prstGeom prst="rect">
            <a:avLst/>
          </a:prstGeom>
          <a:solidFill>
            <a:srgbClr val="1A2538"/>
          </a:solidFill>
          <a:ln w="9525">
            <a:solidFill>
              <a:srgbClr val="2C3E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635">
              <a:lnSpc>
                <a:spcPct val="100000"/>
              </a:lnSpc>
            </a:pPr>
            <a:r>
              <a:rPr dirty="0" sz="1000" spc="60">
                <a:solidFill>
                  <a:srgbClr val="00E5FF"/>
                </a:solidFill>
                <a:latin typeface="Times New Roman"/>
                <a:cs typeface="Times New Roman"/>
              </a:rPr>
              <a:t>DATA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50" spc="50">
                <a:solidFill>
                  <a:srgbClr val="F4F4F6"/>
                </a:solidFill>
                <a:latin typeface="Times New Roman"/>
                <a:cs typeface="Times New Roman"/>
              </a:rPr>
              <a:t>MySQL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</a:pPr>
            <a:r>
              <a:rPr dirty="0" sz="1150" spc="114">
                <a:solidFill>
                  <a:srgbClr val="F4F4F6"/>
                </a:solidFill>
                <a:latin typeface="Times New Roman"/>
                <a:cs typeface="Times New Roman"/>
              </a:rPr>
              <a:t>JSON</a:t>
            </a:r>
            <a:r>
              <a:rPr dirty="0" sz="1150" spc="1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95">
                <a:solidFill>
                  <a:srgbClr val="F4F4F6"/>
                </a:solidFill>
                <a:latin typeface="Times New Roman"/>
                <a:cs typeface="Times New Roman"/>
              </a:rPr>
              <a:t>Datasets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096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540500" y="673100"/>
            <a:ext cx="3636010" cy="1951355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dirty="0" sz="4200"/>
              <a:t>Behind</a:t>
            </a:r>
            <a:r>
              <a:rPr dirty="0" sz="4200" spc="10"/>
              <a:t> </a:t>
            </a:r>
            <a:r>
              <a:rPr dirty="0" sz="4200" spc="-20"/>
              <a:t>every emergency</a:t>
            </a:r>
            <a:r>
              <a:rPr dirty="0" sz="4200" spc="-125"/>
              <a:t> </a:t>
            </a:r>
            <a:r>
              <a:rPr dirty="0" sz="4200"/>
              <a:t>is</a:t>
            </a:r>
            <a:r>
              <a:rPr dirty="0" sz="4200" spc="30"/>
              <a:t> </a:t>
            </a:r>
            <a:r>
              <a:rPr dirty="0" sz="4200" spc="-50"/>
              <a:t>a </a:t>
            </a:r>
            <a:r>
              <a:rPr dirty="0" sz="4200"/>
              <a:t>human</a:t>
            </a:r>
            <a:r>
              <a:rPr dirty="0" sz="4200" spc="75"/>
              <a:t> </a:t>
            </a:r>
            <a:r>
              <a:rPr dirty="0" sz="4200" spc="-10"/>
              <a:t>story.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6540500" y="2737643"/>
            <a:ext cx="3298825" cy="1168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50" spc="295">
                <a:solidFill>
                  <a:srgbClr val="FFB200"/>
                </a:solidFill>
                <a:latin typeface="MS PGothic"/>
                <a:cs typeface="MS PGothic"/>
              </a:rPr>
              <a:t>❤</a:t>
            </a:r>
            <a:r>
              <a:rPr dirty="0" sz="1750" spc="180">
                <a:solidFill>
                  <a:srgbClr val="FFB200"/>
                </a:solidFill>
                <a:latin typeface="MS PGothic"/>
                <a:cs typeface="MS PGothic"/>
              </a:rPr>
              <a:t> </a:t>
            </a:r>
            <a:r>
              <a:rPr dirty="0" sz="145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450" spc="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90">
                <a:solidFill>
                  <a:srgbClr val="9FA9BE"/>
                </a:solidFill>
                <a:latin typeface="Times New Roman"/>
                <a:cs typeface="Times New Roman"/>
              </a:rPr>
              <a:t>parent</a:t>
            </a:r>
            <a:r>
              <a:rPr dirty="0" sz="1450" spc="10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14">
                <a:solidFill>
                  <a:srgbClr val="9FA9BE"/>
                </a:solidFill>
                <a:latin typeface="Times New Roman"/>
                <a:cs typeface="Times New Roman"/>
              </a:rPr>
              <a:t>waiting </a:t>
            </a:r>
            <a:r>
              <a:rPr dirty="0" sz="1450" spc="70">
                <a:solidFill>
                  <a:srgbClr val="9FA9BE"/>
                </a:solidFill>
                <a:latin typeface="Times New Roman"/>
                <a:cs typeface="Times New Roman"/>
              </a:rPr>
              <a:t>for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45">
                <a:solidFill>
                  <a:srgbClr val="9FA9BE"/>
                </a:solidFill>
                <a:latin typeface="Times New Roman"/>
                <a:cs typeface="Times New Roman"/>
              </a:rPr>
              <a:t>their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95">
                <a:solidFill>
                  <a:srgbClr val="9FA9BE"/>
                </a:solidFill>
                <a:latin typeface="Times New Roman"/>
                <a:cs typeface="Times New Roman"/>
              </a:rPr>
              <a:t>child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50" spc="295">
                <a:solidFill>
                  <a:srgbClr val="FFB200"/>
                </a:solidFill>
                <a:latin typeface="MS PGothic"/>
                <a:cs typeface="MS PGothic"/>
              </a:rPr>
              <a:t>❤</a:t>
            </a:r>
            <a:r>
              <a:rPr dirty="0" sz="1750" spc="180">
                <a:solidFill>
                  <a:srgbClr val="FFB200"/>
                </a:solidFill>
                <a:latin typeface="MS PGothic"/>
                <a:cs typeface="MS PGothic"/>
              </a:rPr>
              <a:t> </a:t>
            </a:r>
            <a:r>
              <a:rPr dirty="0" sz="145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450" spc="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10">
                <a:solidFill>
                  <a:srgbClr val="9FA9BE"/>
                </a:solidFill>
                <a:latin typeface="Times New Roman"/>
                <a:cs typeface="Times New Roman"/>
              </a:rPr>
              <a:t>family</a:t>
            </a:r>
            <a:r>
              <a:rPr dirty="0" sz="1450" spc="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14">
                <a:solidFill>
                  <a:srgbClr val="9FA9BE"/>
                </a:solidFill>
                <a:latin typeface="Times New Roman"/>
                <a:cs typeface="Times New Roman"/>
              </a:rPr>
              <a:t>waiting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70">
                <a:solidFill>
                  <a:srgbClr val="9FA9BE"/>
                </a:solidFill>
                <a:latin typeface="Times New Roman"/>
                <a:cs typeface="Times New Roman"/>
              </a:rPr>
              <a:t>for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95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40">
                <a:solidFill>
                  <a:srgbClr val="9FA9BE"/>
                </a:solidFill>
                <a:latin typeface="Times New Roman"/>
                <a:cs typeface="Times New Roman"/>
              </a:rPr>
              <a:t>loved</a:t>
            </a:r>
            <a:r>
              <a:rPr dirty="0" sz="1450" spc="114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80">
                <a:solidFill>
                  <a:srgbClr val="9FA9BE"/>
                </a:solidFill>
                <a:latin typeface="Times New Roman"/>
                <a:cs typeface="Times New Roman"/>
              </a:rPr>
              <a:t>one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50" spc="295">
                <a:solidFill>
                  <a:srgbClr val="FFB200"/>
                </a:solidFill>
                <a:latin typeface="MS PGothic"/>
                <a:cs typeface="MS PGothic"/>
              </a:rPr>
              <a:t>❤</a:t>
            </a:r>
            <a:r>
              <a:rPr dirty="0" sz="1750" spc="190">
                <a:solidFill>
                  <a:srgbClr val="FFB200"/>
                </a:solidFill>
                <a:latin typeface="MS PGothic"/>
                <a:cs typeface="MS PGothic"/>
              </a:rPr>
              <a:t> </a:t>
            </a:r>
            <a:r>
              <a:rPr dirty="0" sz="1450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450" spc="4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60">
                <a:solidFill>
                  <a:srgbClr val="9FA9BE"/>
                </a:solidFill>
                <a:latin typeface="Times New Roman"/>
                <a:cs typeface="Times New Roman"/>
              </a:rPr>
              <a:t>doctor</a:t>
            </a:r>
            <a:r>
              <a:rPr dirty="0" sz="1450" spc="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55">
                <a:solidFill>
                  <a:srgbClr val="9FA9BE"/>
                </a:solidFill>
                <a:latin typeface="Times New Roman"/>
                <a:cs typeface="Times New Roman"/>
              </a:rPr>
              <a:t>preparing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65">
                <a:solidFill>
                  <a:srgbClr val="9FA9BE"/>
                </a:solidFill>
                <a:latin typeface="Times New Roman"/>
                <a:cs typeface="Times New Roman"/>
              </a:rPr>
              <a:t>to</a:t>
            </a:r>
            <a:r>
              <a:rPr dirty="0" sz="1450" spc="9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200">
                <a:solidFill>
                  <a:srgbClr val="9FA9BE"/>
                </a:solidFill>
                <a:latin typeface="Times New Roman"/>
                <a:cs typeface="Times New Roman"/>
              </a:rPr>
              <a:t>save</a:t>
            </a:r>
            <a:r>
              <a:rPr dirty="0" sz="1450" spc="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195">
                <a:solidFill>
                  <a:srgbClr val="9FA9BE"/>
                </a:solidFill>
                <a:latin typeface="Times New Roman"/>
                <a:cs typeface="Times New Roman"/>
              </a:rPr>
              <a:t>a</a:t>
            </a:r>
            <a:r>
              <a:rPr dirty="0" sz="1450" spc="12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450" spc="-20">
                <a:solidFill>
                  <a:srgbClr val="9FA9BE"/>
                </a:solidFill>
                <a:latin typeface="Times New Roman"/>
                <a:cs typeface="Times New Roman"/>
              </a:rPr>
              <a:t>life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7962" y="4510087"/>
            <a:ext cx="5172075" cy="1666875"/>
          </a:xfrm>
          <a:prstGeom prst="rect">
            <a:avLst/>
          </a:prstGeom>
          <a:solidFill>
            <a:srgbClr val="00E5FF">
              <a:alpha val="10198"/>
            </a:srgbClr>
          </a:solidFill>
          <a:ln w="9525">
            <a:solidFill>
              <a:srgbClr val="00E5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10160">
              <a:lnSpc>
                <a:spcPct val="100000"/>
              </a:lnSpc>
            </a:pP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G</a:t>
            </a:r>
            <a:r>
              <a:rPr dirty="0" sz="1000" spc="-13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165">
                <a:solidFill>
                  <a:srgbClr val="F4F4F6"/>
                </a:solidFill>
                <a:latin typeface="Times New Roman"/>
                <a:cs typeface="Times New Roman"/>
              </a:rPr>
              <a:t>I</a:t>
            </a:r>
            <a:r>
              <a:rPr dirty="0" sz="1000" spc="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V</a:t>
            </a:r>
            <a:r>
              <a:rPr dirty="0" sz="1000" spc="-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165">
                <a:solidFill>
                  <a:srgbClr val="F4F4F6"/>
                </a:solidFill>
                <a:latin typeface="Times New Roman"/>
                <a:cs typeface="Times New Roman"/>
              </a:rPr>
              <a:t>I</a:t>
            </a:r>
            <a:r>
              <a:rPr dirty="0" sz="1000" spc="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N</a:t>
            </a:r>
            <a:r>
              <a:rPr dirty="0" sz="1000" spc="-3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G</a:t>
            </a:r>
            <a:r>
              <a:rPr dirty="0" sz="1000" spc="33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F4F4F6"/>
                </a:solidFill>
                <a:latin typeface="Times New Roman"/>
                <a:cs typeface="Times New Roman"/>
              </a:rPr>
              <a:t>T</a:t>
            </a:r>
            <a:r>
              <a:rPr dirty="0" sz="1000" spc="-1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H</a:t>
            </a:r>
            <a:r>
              <a:rPr dirty="0" sz="1000" spc="-9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F4F4F6"/>
                </a:solidFill>
                <a:latin typeface="Times New Roman"/>
                <a:cs typeface="Times New Roman"/>
              </a:rPr>
              <a:t>E</a:t>
            </a:r>
            <a:r>
              <a:rPr dirty="0" sz="1000" spc="-1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4F4F6"/>
                </a:solidFill>
                <a:latin typeface="Times New Roman"/>
                <a:cs typeface="Times New Roman"/>
              </a:rPr>
              <a:t>M</a:t>
            </a:r>
            <a:r>
              <a:rPr dirty="0" sz="1000" spc="409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F4F4F6"/>
                </a:solidFill>
                <a:latin typeface="Times New Roman"/>
                <a:cs typeface="Times New Roman"/>
              </a:rPr>
              <a:t>T</a:t>
            </a:r>
            <a:r>
              <a:rPr dirty="0" sz="1000" spc="-1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H</a:t>
            </a:r>
            <a:r>
              <a:rPr dirty="0" sz="1000" spc="-10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E</a:t>
            </a:r>
            <a:r>
              <a:rPr dirty="0" sz="1000" spc="3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4F4F6"/>
                </a:solidFill>
                <a:latin typeface="Times New Roman"/>
                <a:cs typeface="Times New Roman"/>
              </a:rPr>
              <a:t>M</a:t>
            </a:r>
            <a:r>
              <a:rPr dirty="0" sz="1000" spc="-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4F4F6"/>
                </a:solidFill>
                <a:latin typeface="Times New Roman"/>
                <a:cs typeface="Times New Roman"/>
              </a:rPr>
              <a:t>O</a:t>
            </a:r>
            <a:r>
              <a:rPr dirty="0" sz="1000" spc="-8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F4F4F6"/>
                </a:solidFill>
                <a:latin typeface="Times New Roman"/>
                <a:cs typeface="Times New Roman"/>
              </a:rPr>
              <a:t>S</a:t>
            </a:r>
            <a:r>
              <a:rPr dirty="0" sz="1000" spc="-9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F4F4F6"/>
                </a:solidFill>
                <a:latin typeface="Times New Roman"/>
                <a:cs typeface="Times New Roman"/>
              </a:rPr>
              <a:t>T</a:t>
            </a:r>
            <a:r>
              <a:rPr dirty="0" sz="1000" spc="3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VA</a:t>
            </a:r>
            <a:r>
              <a:rPr dirty="0" sz="1000" spc="-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45">
                <a:solidFill>
                  <a:srgbClr val="F4F4F6"/>
                </a:solidFill>
                <a:latin typeface="Times New Roman"/>
                <a:cs typeface="Times New Roman"/>
              </a:rPr>
              <a:t>L</a:t>
            </a:r>
            <a:r>
              <a:rPr dirty="0" sz="1000" spc="-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U</a:t>
            </a:r>
            <a:r>
              <a:rPr dirty="0" sz="1000" spc="-9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A</a:t>
            </a:r>
            <a:r>
              <a:rPr dirty="0" sz="1000" spc="-11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4F4F6"/>
                </a:solidFill>
                <a:latin typeface="Times New Roman"/>
                <a:cs typeface="Times New Roman"/>
              </a:rPr>
              <a:t>B</a:t>
            </a:r>
            <a:r>
              <a:rPr dirty="0" sz="1000" spc="-10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45">
                <a:solidFill>
                  <a:srgbClr val="F4F4F6"/>
                </a:solidFill>
                <a:latin typeface="Times New Roman"/>
                <a:cs typeface="Times New Roman"/>
              </a:rPr>
              <a:t>L</a:t>
            </a:r>
            <a:r>
              <a:rPr dirty="0" sz="1000" spc="-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4F4F6"/>
                </a:solidFill>
                <a:latin typeface="Times New Roman"/>
                <a:cs typeface="Times New Roman"/>
              </a:rPr>
              <a:t>E</a:t>
            </a:r>
            <a:r>
              <a:rPr dirty="0" sz="1000" spc="3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F4F4F6"/>
                </a:solidFill>
                <a:latin typeface="Times New Roman"/>
                <a:cs typeface="Times New Roman"/>
              </a:rPr>
              <a:t>R</a:t>
            </a:r>
            <a:r>
              <a:rPr dirty="0" sz="1000" spc="-1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F4F4F6"/>
                </a:solidFill>
                <a:latin typeface="Times New Roman"/>
                <a:cs typeface="Times New Roman"/>
              </a:rPr>
              <a:t>E</a:t>
            </a:r>
            <a:r>
              <a:rPr dirty="0" sz="1000" spc="-10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F4F4F6"/>
                </a:solidFill>
                <a:latin typeface="Times New Roman"/>
                <a:cs typeface="Times New Roman"/>
              </a:rPr>
              <a:t>S</a:t>
            </a:r>
            <a:r>
              <a:rPr dirty="0" sz="1000" spc="-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4F4F6"/>
                </a:solidFill>
                <a:latin typeface="Times New Roman"/>
                <a:cs typeface="Times New Roman"/>
              </a:rPr>
              <a:t>O</a:t>
            </a:r>
            <a:r>
              <a:rPr dirty="0" sz="1000" spc="-8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F4F4F6"/>
                </a:solidFill>
                <a:latin typeface="Times New Roman"/>
                <a:cs typeface="Times New Roman"/>
              </a:rPr>
              <a:t>U</a:t>
            </a:r>
            <a:r>
              <a:rPr dirty="0" sz="1000" spc="-9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F4F4F6"/>
                </a:solidFill>
                <a:latin typeface="Times New Roman"/>
                <a:cs typeface="Times New Roman"/>
              </a:rPr>
              <a:t>R</a:t>
            </a:r>
            <a:r>
              <a:rPr dirty="0" sz="1000" spc="-12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150">
                <a:solidFill>
                  <a:srgbClr val="F4F4F6"/>
                </a:solidFill>
                <a:latin typeface="Times New Roman"/>
                <a:cs typeface="Times New Roman"/>
              </a:rPr>
              <a:t>C</a:t>
            </a:r>
            <a:r>
              <a:rPr dirty="0" sz="1000" spc="-12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F4F4F6"/>
                </a:solidFill>
                <a:latin typeface="Times New Roman"/>
                <a:cs typeface="Times New Roman"/>
              </a:rPr>
              <a:t>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</a:pPr>
            <a:r>
              <a:rPr dirty="0" sz="4800" spc="195" b="1">
                <a:solidFill>
                  <a:srgbClr val="00E5FF"/>
                </a:solidFill>
                <a:latin typeface="Cambria"/>
                <a:cs typeface="Cambria"/>
              </a:rPr>
              <a:t>TIME.</a:t>
            </a:r>
            <a:endParaRPr sz="4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35200" y="414019"/>
            <a:ext cx="7717155" cy="16446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 marR="5080" indent="-228600">
              <a:lnSpc>
                <a:spcPct val="110700"/>
              </a:lnSpc>
              <a:spcBef>
                <a:spcPts val="95"/>
              </a:spcBef>
            </a:pPr>
            <a:r>
              <a:rPr dirty="0" sz="4800" spc="85"/>
              <a:t>“The</a:t>
            </a:r>
            <a:r>
              <a:rPr dirty="0" sz="4800" spc="-65"/>
              <a:t> </a:t>
            </a:r>
            <a:r>
              <a:rPr dirty="0" sz="4800" spc="-45"/>
              <a:t>nearest</a:t>
            </a:r>
            <a:r>
              <a:rPr dirty="0" sz="4800" spc="-80"/>
              <a:t> </a:t>
            </a:r>
            <a:r>
              <a:rPr dirty="0" sz="4800"/>
              <a:t>hospital</a:t>
            </a:r>
            <a:r>
              <a:rPr dirty="0" sz="4800" spc="-35"/>
              <a:t> </a:t>
            </a:r>
            <a:r>
              <a:rPr dirty="0" sz="4800"/>
              <a:t>is</a:t>
            </a:r>
            <a:r>
              <a:rPr dirty="0" sz="4800" spc="-15"/>
              <a:t> </a:t>
            </a:r>
            <a:r>
              <a:rPr dirty="0" sz="4800" spc="-25"/>
              <a:t>not </a:t>
            </a:r>
            <a:r>
              <a:rPr dirty="0" sz="4800" spc="-75"/>
              <a:t>always</a:t>
            </a:r>
            <a:r>
              <a:rPr dirty="0" sz="4800" spc="-65"/>
              <a:t> </a:t>
            </a:r>
            <a:r>
              <a:rPr dirty="0" sz="4800"/>
              <a:t>the</a:t>
            </a:r>
            <a:r>
              <a:rPr dirty="0" sz="4800" spc="-45"/>
              <a:t> </a:t>
            </a:r>
            <a:r>
              <a:rPr dirty="0" sz="4800"/>
              <a:t>right</a:t>
            </a:r>
            <a:r>
              <a:rPr dirty="0" sz="4800" spc="-65"/>
              <a:t> </a:t>
            </a:r>
            <a:r>
              <a:rPr dirty="0" sz="4800" spc="-10"/>
              <a:t>hospital.”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3835400" y="2041559"/>
            <a:ext cx="4516120" cy="1455420"/>
          </a:xfrm>
          <a:prstGeom prst="rect">
            <a:avLst/>
          </a:prstGeom>
        </p:spPr>
        <p:txBody>
          <a:bodyPr wrap="square" lIns="0" tIns="371475" rIns="0" bIns="0" rtlCol="0" vert="horz">
            <a:spAutoFit/>
          </a:bodyPr>
          <a:lstStyle/>
          <a:p>
            <a:pPr algn="ctr" marL="62230">
              <a:lnSpc>
                <a:spcPct val="100000"/>
              </a:lnSpc>
              <a:spcBef>
                <a:spcPts val="2925"/>
              </a:spcBef>
            </a:pPr>
            <a:r>
              <a:rPr dirty="0" sz="3600" spc="90" b="1">
                <a:solidFill>
                  <a:srgbClr val="00E5FF"/>
                </a:solidFill>
                <a:latin typeface="Cambria"/>
                <a:cs typeface="Cambria"/>
              </a:rPr>
              <a:t>PRAANJEEV</a:t>
            </a:r>
            <a:r>
              <a:rPr dirty="0" sz="3600" spc="-50" b="1">
                <a:solidFill>
                  <a:srgbClr val="00E5FF"/>
                </a:solidFill>
                <a:latin typeface="Cambria"/>
                <a:cs typeface="Cambria"/>
              </a:rPr>
              <a:t> </a:t>
            </a:r>
            <a:r>
              <a:rPr dirty="0" sz="4250" spc="630">
                <a:solidFill>
                  <a:srgbClr val="00E5FF"/>
                </a:solidFill>
                <a:latin typeface="MS PGothic"/>
                <a:cs typeface="MS PGothic"/>
              </a:rPr>
              <a:t>❤</a:t>
            </a:r>
            <a:endParaRPr sz="4250">
              <a:latin typeface="MS PGothic"/>
              <a:cs typeface="MS PGothic"/>
            </a:endParaRPr>
          </a:p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dirty="0" sz="1650" spc="-260" i="1">
                <a:solidFill>
                  <a:srgbClr val="FFB200"/>
                </a:solidFill>
                <a:latin typeface="Arial"/>
                <a:cs typeface="Arial"/>
              </a:rPr>
              <a:t>“</a:t>
            </a:r>
            <a:r>
              <a:rPr dirty="0" sz="1800" spc="-1040" i="1">
                <a:solidFill>
                  <a:srgbClr val="FFB200"/>
                </a:solidFill>
                <a:latin typeface="Arial"/>
                <a:cs typeface="Arial"/>
              </a:rPr>
              <a:t>I</a:t>
            </a:r>
            <a:r>
              <a:rPr dirty="0" sz="1800" spc="-330" i="1">
                <a:solidFill>
                  <a:srgbClr val="FFB200"/>
                </a:solidFill>
                <a:latin typeface="Arial"/>
                <a:cs typeface="Arial"/>
              </a:rPr>
              <a:t>n</a:t>
            </a:r>
            <a:r>
              <a:rPr dirty="0" sz="1800" spc="-665" i="1">
                <a:solidFill>
                  <a:srgbClr val="FFB200"/>
                </a:solidFill>
                <a:latin typeface="Arial"/>
                <a:cs typeface="Arial"/>
              </a:rPr>
              <a:t>t</a:t>
            </a:r>
            <a:r>
              <a:rPr dirty="0" sz="1800" spc="-880" i="1">
                <a:solidFill>
                  <a:srgbClr val="FFB200"/>
                </a:solidFill>
                <a:latin typeface="Arial"/>
                <a:cs typeface="Arial"/>
              </a:rPr>
              <a:t>h</a:t>
            </a:r>
            <a:r>
              <a:rPr dirty="0" sz="1800" spc="-360" i="1">
                <a:solidFill>
                  <a:srgbClr val="FFB200"/>
                </a:solidFill>
                <a:latin typeface="Arial"/>
                <a:cs typeface="Arial"/>
              </a:rPr>
              <a:t>e</a:t>
            </a:r>
            <a:r>
              <a:rPr dirty="0" sz="1800" spc="-785" i="1">
                <a:solidFill>
                  <a:srgbClr val="FFB200"/>
                </a:solidFill>
                <a:latin typeface="Arial"/>
                <a:cs typeface="Arial"/>
              </a:rPr>
              <a:t>r</a:t>
            </a:r>
            <a:r>
              <a:rPr dirty="0" sz="1800" spc="-955" i="1">
                <a:solidFill>
                  <a:srgbClr val="FFB200"/>
                </a:solidFill>
                <a:latin typeface="Arial"/>
                <a:cs typeface="Arial"/>
              </a:rPr>
              <a:t>a</a:t>
            </a:r>
            <a:r>
              <a:rPr dirty="0" sz="1800" spc="-760" i="1">
                <a:solidFill>
                  <a:srgbClr val="FFB200"/>
                </a:solidFill>
                <a:latin typeface="Arial"/>
                <a:cs typeface="Arial"/>
              </a:rPr>
              <a:t>c</a:t>
            </a:r>
            <a:r>
              <a:rPr dirty="0" sz="1800" spc="-360" i="1">
                <a:solidFill>
                  <a:srgbClr val="FFB200"/>
                </a:solidFill>
                <a:latin typeface="Arial"/>
                <a:cs typeface="Arial"/>
              </a:rPr>
              <a:t>e</a:t>
            </a:r>
            <a:r>
              <a:rPr dirty="0" sz="1800" spc="-955" i="1">
                <a:solidFill>
                  <a:srgbClr val="FFB200"/>
                </a:solidFill>
                <a:latin typeface="Arial"/>
                <a:cs typeface="Arial"/>
              </a:rPr>
              <a:t>a</a:t>
            </a:r>
            <a:r>
              <a:rPr dirty="0" sz="1800" spc="-810" i="1">
                <a:solidFill>
                  <a:srgbClr val="FFB200"/>
                </a:solidFill>
                <a:latin typeface="Arial"/>
                <a:cs typeface="Arial"/>
              </a:rPr>
              <a:t>g</a:t>
            </a:r>
            <a:r>
              <a:rPr dirty="0" sz="1800" spc="-955" i="1">
                <a:solidFill>
                  <a:srgbClr val="FFB200"/>
                </a:solidFill>
                <a:latin typeface="Arial"/>
                <a:cs typeface="Arial"/>
              </a:rPr>
              <a:t>a</a:t>
            </a:r>
            <a:r>
              <a:rPr dirty="0" sz="1800" spc="-1010" i="1">
                <a:solidFill>
                  <a:srgbClr val="FFB200"/>
                </a:solidFill>
                <a:latin typeface="Arial"/>
                <a:cs typeface="Arial"/>
              </a:rPr>
              <a:t>i</a:t>
            </a:r>
            <a:r>
              <a:rPr dirty="0" sz="1800" spc="-880" i="1">
                <a:solidFill>
                  <a:srgbClr val="FFB200"/>
                </a:solidFill>
                <a:latin typeface="Arial"/>
                <a:cs typeface="Arial"/>
              </a:rPr>
              <a:t>n</a:t>
            </a:r>
            <a:r>
              <a:rPr dirty="0" sz="1800" spc="-815" i="1">
                <a:solidFill>
                  <a:srgbClr val="FFB200"/>
                </a:solidFill>
                <a:latin typeface="Arial"/>
                <a:cs typeface="Arial"/>
              </a:rPr>
              <a:t>s</a:t>
            </a:r>
            <a:r>
              <a:rPr dirty="0" sz="1800" spc="-270" i="1">
                <a:solidFill>
                  <a:srgbClr val="FFB200"/>
                </a:solidFill>
                <a:latin typeface="Arial"/>
                <a:cs typeface="Arial"/>
              </a:rPr>
              <a:t>t</a:t>
            </a:r>
            <a:r>
              <a:rPr dirty="0" sz="1800" spc="-665" i="1">
                <a:solidFill>
                  <a:srgbClr val="FFB200"/>
                </a:solidFill>
                <a:latin typeface="Arial"/>
                <a:cs typeface="Arial"/>
              </a:rPr>
              <a:t>t</a:t>
            </a:r>
            <a:r>
              <a:rPr dirty="0" sz="1800" spc="-1010" i="1">
                <a:solidFill>
                  <a:srgbClr val="FFB200"/>
                </a:solidFill>
                <a:latin typeface="Arial"/>
                <a:cs typeface="Arial"/>
              </a:rPr>
              <a:t>i</a:t>
            </a:r>
            <a:r>
              <a:rPr dirty="0" sz="1800" spc="-844" i="1">
                <a:solidFill>
                  <a:srgbClr val="FFB200"/>
                </a:solidFill>
                <a:latin typeface="Arial"/>
                <a:cs typeface="Arial"/>
              </a:rPr>
              <a:t>m</a:t>
            </a:r>
            <a:r>
              <a:rPr dirty="0" sz="1800" spc="-470" i="1">
                <a:solidFill>
                  <a:srgbClr val="FFB200"/>
                </a:solidFill>
                <a:latin typeface="Arial"/>
                <a:cs typeface="Arial"/>
              </a:rPr>
              <a:t>e</a:t>
            </a:r>
            <a:r>
              <a:rPr dirty="0" sz="1650" spc="10" i="1">
                <a:solidFill>
                  <a:srgbClr val="FFB200"/>
                </a:solidFill>
                <a:latin typeface="Arial"/>
                <a:cs typeface="Arial"/>
              </a:rPr>
              <a:t>,</a:t>
            </a:r>
            <a:r>
              <a:rPr dirty="0" sz="1650" spc="-204" i="1">
                <a:solidFill>
                  <a:srgbClr val="FFB200"/>
                </a:solidFill>
                <a:latin typeface="Arial"/>
                <a:cs typeface="Arial"/>
              </a:rPr>
              <a:t> </a:t>
            </a:r>
            <a:r>
              <a:rPr dirty="0" sz="1800" spc="-715" i="1">
                <a:solidFill>
                  <a:srgbClr val="FFB200"/>
                </a:solidFill>
                <a:latin typeface="Arial"/>
                <a:cs typeface="Arial"/>
              </a:rPr>
              <a:t>w</a:t>
            </a:r>
            <a:r>
              <a:rPr dirty="0" sz="1800" spc="-260" i="1">
                <a:solidFill>
                  <a:srgbClr val="FFB200"/>
                </a:solidFill>
                <a:latin typeface="Arial"/>
                <a:cs typeface="Arial"/>
              </a:rPr>
              <a:t>e</a:t>
            </a:r>
            <a:r>
              <a:rPr dirty="0" sz="1800" spc="-660" i="1">
                <a:solidFill>
                  <a:srgbClr val="FFB200"/>
                </a:solidFill>
                <a:latin typeface="Arial"/>
                <a:cs typeface="Arial"/>
              </a:rPr>
              <a:t>c</a:t>
            </a:r>
            <a:r>
              <a:rPr dirty="0" sz="1800" spc="-780" i="1">
                <a:solidFill>
                  <a:srgbClr val="FFB200"/>
                </a:solidFill>
                <a:latin typeface="Arial"/>
                <a:cs typeface="Arial"/>
              </a:rPr>
              <a:t>h</a:t>
            </a:r>
            <a:r>
              <a:rPr dirty="0" sz="1800" spc="-795" i="1">
                <a:solidFill>
                  <a:srgbClr val="FFB200"/>
                </a:solidFill>
                <a:latin typeface="Arial"/>
                <a:cs typeface="Arial"/>
              </a:rPr>
              <a:t>oo</a:t>
            </a:r>
            <a:r>
              <a:rPr dirty="0" sz="1800" spc="-715" i="1">
                <a:solidFill>
                  <a:srgbClr val="FFB200"/>
                </a:solidFill>
                <a:latin typeface="Arial"/>
                <a:cs typeface="Arial"/>
              </a:rPr>
              <a:t>s</a:t>
            </a:r>
            <a:r>
              <a:rPr dirty="0" sz="1800" spc="-260" i="1">
                <a:solidFill>
                  <a:srgbClr val="FFB200"/>
                </a:solidFill>
                <a:latin typeface="Arial"/>
                <a:cs typeface="Arial"/>
              </a:rPr>
              <a:t>e</a:t>
            </a:r>
            <a:r>
              <a:rPr dirty="0" sz="1800" spc="-985" i="1">
                <a:solidFill>
                  <a:srgbClr val="FFB200"/>
                </a:solidFill>
                <a:latin typeface="Arial"/>
                <a:cs typeface="Arial"/>
              </a:rPr>
              <a:t>l</a:t>
            </a:r>
            <a:r>
              <a:rPr dirty="0" sz="1800" spc="-910" i="1">
                <a:solidFill>
                  <a:srgbClr val="FFB200"/>
                </a:solidFill>
                <a:latin typeface="Arial"/>
                <a:cs typeface="Arial"/>
              </a:rPr>
              <a:t>i</a:t>
            </a:r>
            <a:r>
              <a:rPr dirty="0" sz="1800" spc="-530" i="1">
                <a:solidFill>
                  <a:srgbClr val="FFB200"/>
                </a:solidFill>
                <a:latin typeface="Arial"/>
                <a:cs typeface="Arial"/>
              </a:rPr>
              <a:t>f</a:t>
            </a:r>
            <a:r>
              <a:rPr dirty="0" sz="1800" spc="-370" i="1">
                <a:solidFill>
                  <a:srgbClr val="FFB200"/>
                </a:solidFill>
                <a:latin typeface="Arial"/>
                <a:cs typeface="Arial"/>
              </a:rPr>
              <a:t>e</a:t>
            </a:r>
            <a:r>
              <a:rPr dirty="0" sz="1650" spc="155" i="1">
                <a:solidFill>
                  <a:srgbClr val="FFB200"/>
                </a:solidFill>
                <a:latin typeface="Arial"/>
                <a:cs typeface="Arial"/>
              </a:rPr>
              <a:t>.</a:t>
            </a:r>
            <a:r>
              <a:rPr dirty="0" sz="1650" spc="110" i="1">
                <a:solidFill>
                  <a:srgbClr val="FFB200"/>
                </a:solidFill>
                <a:latin typeface="Arial"/>
                <a:cs typeface="Arial"/>
              </a:rPr>
              <a:t>”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4387" y="4052479"/>
            <a:ext cx="161671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4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300" spc="-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VE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300" spc="-1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Y</a:t>
            </a:r>
            <a:r>
              <a:rPr dirty="0" sz="1300" spc="29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229">
                <a:solidFill>
                  <a:srgbClr val="9FA9BE"/>
                </a:solidFill>
                <a:latin typeface="Times New Roman"/>
                <a:cs typeface="Times New Roman"/>
              </a:rPr>
              <a:t>S</a:t>
            </a:r>
            <a:r>
              <a:rPr dirty="0" sz="1300" spc="-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-4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85">
                <a:solidFill>
                  <a:srgbClr val="9FA9BE"/>
                </a:solidFill>
                <a:latin typeface="Times New Roman"/>
                <a:cs typeface="Times New Roman"/>
              </a:rPr>
              <a:t>CO</a:t>
            </a:r>
            <a:r>
              <a:rPr dirty="0" sz="1300" spc="-16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N</a:t>
            </a:r>
            <a:r>
              <a:rPr dirty="0" sz="1300" spc="-10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70">
                <a:solidFill>
                  <a:srgbClr val="9FA9BE"/>
                </a:solidFill>
                <a:latin typeface="Times New Roman"/>
                <a:cs typeface="Times New Roman"/>
              </a:rPr>
              <a:t>D</a:t>
            </a:r>
            <a:r>
              <a:rPr dirty="0" sz="200" spc="95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4637" y="4052479"/>
            <a:ext cx="186436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4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300" spc="-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VE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300" spc="-1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Y</a:t>
            </a:r>
            <a:r>
              <a:rPr dirty="0" sz="1300" spc="29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300" spc="-1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-4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229">
                <a:solidFill>
                  <a:srgbClr val="9FA9BE"/>
                </a:solidFill>
                <a:latin typeface="Times New Roman"/>
                <a:cs typeface="Times New Roman"/>
              </a:rPr>
              <a:t>S</a:t>
            </a:r>
            <a:r>
              <a:rPr dirty="0" sz="1300" spc="-14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9FA9BE"/>
                </a:solidFill>
                <a:latin typeface="Times New Roman"/>
                <a:cs typeface="Times New Roman"/>
              </a:rPr>
              <a:t>O</a:t>
            </a:r>
            <a:r>
              <a:rPr dirty="0" sz="1300" spc="-1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-25">
                <a:solidFill>
                  <a:srgbClr val="9FA9BE"/>
                </a:solidFill>
                <a:latin typeface="Times New Roman"/>
                <a:cs typeface="Times New Roman"/>
              </a:rPr>
              <a:t>U</a:t>
            </a:r>
            <a:r>
              <a:rPr dirty="0" sz="1300" spc="-16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300" spc="-1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9FA9BE"/>
                </a:solidFill>
                <a:latin typeface="Times New Roman"/>
                <a:cs typeface="Times New Roman"/>
              </a:rPr>
              <a:t>CE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200" spc="20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02537" y="4052479"/>
            <a:ext cx="1207135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4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VE</a:t>
            </a:r>
            <a:r>
              <a:rPr dirty="0" sz="1300" spc="-13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9FA9BE"/>
                </a:solidFill>
                <a:latin typeface="Times New Roman"/>
                <a:cs typeface="Times New Roman"/>
              </a:rPr>
              <a:t>R</a:t>
            </a:r>
            <a:r>
              <a:rPr dirty="0" sz="1300" spc="-17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9FA9BE"/>
                </a:solidFill>
                <a:latin typeface="Times New Roman"/>
                <a:cs typeface="Times New Roman"/>
              </a:rPr>
              <a:t>Y</a:t>
            </a:r>
            <a:r>
              <a:rPr dirty="0" sz="1300" spc="295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-65">
                <a:solidFill>
                  <a:srgbClr val="9FA9BE"/>
                </a:solidFill>
                <a:latin typeface="Times New Roman"/>
                <a:cs typeface="Times New Roman"/>
              </a:rPr>
              <a:t>L</a:t>
            </a:r>
            <a:r>
              <a:rPr dirty="0" sz="1300" spc="-18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-210">
                <a:solidFill>
                  <a:srgbClr val="9FA9BE"/>
                </a:solidFill>
                <a:latin typeface="Times New Roman"/>
                <a:cs typeface="Times New Roman"/>
              </a:rPr>
              <a:t>I</a:t>
            </a:r>
            <a:r>
              <a:rPr dirty="0" sz="1300" spc="-5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9FA9BE"/>
                </a:solidFill>
                <a:latin typeface="Times New Roman"/>
                <a:cs typeface="Times New Roman"/>
              </a:rPr>
              <a:t>F</a:t>
            </a:r>
            <a:r>
              <a:rPr dirty="0" sz="1300" spc="-12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1300" spc="-40">
                <a:solidFill>
                  <a:srgbClr val="9FA9BE"/>
                </a:solidFill>
                <a:latin typeface="Times New Roman"/>
                <a:cs typeface="Times New Roman"/>
              </a:rPr>
              <a:t>E</a:t>
            </a:r>
            <a:r>
              <a:rPr dirty="0" sz="1300" spc="-130">
                <a:solidFill>
                  <a:srgbClr val="9FA9BE"/>
                </a:solidFill>
                <a:latin typeface="Times New Roman"/>
                <a:cs typeface="Times New Roman"/>
              </a:rPr>
              <a:t> </a:t>
            </a:r>
            <a:r>
              <a:rPr dirty="0" sz="200" spc="200">
                <a:solidFill>
                  <a:srgbClr val="9FA9BE"/>
                </a:solidFill>
                <a:latin typeface="Times New Roman"/>
                <a:cs typeface="Times New Roman"/>
              </a:rPr>
              <a:t>.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5912" y="6167685"/>
            <a:ext cx="3931920" cy="24447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F4F4F6"/>
                </a:solidFill>
                <a:latin typeface="Times New Roman"/>
                <a:cs typeface="Times New Roman"/>
              </a:rPr>
              <a:t>Tirth</a:t>
            </a:r>
            <a:r>
              <a:rPr dirty="0" sz="1150" spc="9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F4F4F6"/>
                </a:solidFill>
                <a:latin typeface="Times New Roman"/>
                <a:cs typeface="Times New Roman"/>
              </a:rPr>
              <a:t>Patel</a:t>
            </a:r>
            <a:r>
              <a:rPr dirty="0" sz="1150" spc="18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400" spc="1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F4F4F6"/>
                </a:solidFill>
                <a:latin typeface="Times New Roman"/>
                <a:cs typeface="Times New Roman"/>
              </a:rPr>
              <a:t>Neev</a:t>
            </a:r>
            <a:r>
              <a:rPr dirty="0" sz="1150" spc="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F4F4F6"/>
                </a:solidFill>
                <a:latin typeface="Times New Roman"/>
                <a:cs typeface="Times New Roman"/>
              </a:rPr>
              <a:t>Patel</a:t>
            </a:r>
            <a:r>
              <a:rPr dirty="0" sz="1150" spc="1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400" spc="1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F4F4F6"/>
                </a:solidFill>
                <a:latin typeface="Times New Roman"/>
                <a:cs typeface="Times New Roman"/>
              </a:rPr>
              <a:t>Tanmay</a:t>
            </a:r>
            <a:r>
              <a:rPr dirty="0" sz="1150" spc="6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F4F4F6"/>
                </a:solidFill>
                <a:latin typeface="Times New Roman"/>
                <a:cs typeface="Times New Roman"/>
              </a:rPr>
              <a:t>Patel</a:t>
            </a:r>
            <a:r>
              <a:rPr dirty="0" sz="1150" spc="190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4F4F6"/>
                </a:solidFill>
                <a:latin typeface="Times New Roman"/>
                <a:cs typeface="Times New Roman"/>
              </a:rPr>
              <a:t>|</a:t>
            </a:r>
            <a:r>
              <a:rPr dirty="0" sz="1400" spc="155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F4F4F6"/>
                </a:solidFill>
                <a:latin typeface="Times New Roman"/>
                <a:cs typeface="Times New Roman"/>
              </a:rPr>
              <a:t>Kashyap</a:t>
            </a:r>
            <a:r>
              <a:rPr dirty="0" sz="1150" spc="114">
                <a:solidFill>
                  <a:srgbClr val="F4F4F6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F4F4F6"/>
                </a:solidFill>
                <a:latin typeface="Times New Roman"/>
                <a:cs typeface="Times New Roman"/>
              </a:rPr>
              <a:t>Modi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2026-09-15T07:14:59Z</dcterms:created>
  <dcterms:modified xsi:type="dcterms:W3CDTF">2026-09-15T07:14:59Z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2026-09-15T00:00:00Z</vt:filetime>
  </property>
  <property fmtid="{D5CDD505-2E9C-101B-9397-08002B2CF9AE}" pid="6" name="Producer">
    <vt:lpwstr>pdf-lib (https://github.com/Hopding/pdf-lib)</vt:lpwstr>
  </property>
</Properties>
</file>